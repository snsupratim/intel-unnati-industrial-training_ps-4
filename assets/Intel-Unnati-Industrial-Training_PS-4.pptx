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312" r:id="rId5"/>
    <p:sldId id="257" r:id="rId6"/>
    <p:sldId id="258" r:id="rId7"/>
    <p:sldId id="322" r:id="rId8"/>
    <p:sldId id="260" r:id="rId9"/>
    <p:sldId id="307" r:id="rId10"/>
    <p:sldId id="323" r:id="rId11"/>
    <p:sldId id="305" r:id="rId12"/>
    <p:sldId id="317" r:id="rId13"/>
    <p:sldId id="324" r:id="rId14"/>
    <p:sldId id="325" r:id="rId15"/>
    <p:sldId id="326" r:id="rId16"/>
    <p:sldId id="304" r:id="rId17"/>
    <p:sldId id="265" r:id="rId18"/>
    <p:sldId id="319" r:id="rId19"/>
    <p:sldId id="266" r:id="rId20"/>
  </p:sldIdLst>
  <p:sldSz cx="9144000" cy="5143500" type="screen16x9"/>
  <p:notesSz cx="6858000" cy="9144000"/>
  <p:embeddedFontLst>
    <p:embeddedFont>
      <p:font typeface="Fjalla One" panose="02000506040000020004"/>
      <p:regular r:id="rId24"/>
    </p:embeddedFont>
    <p:embeddedFont>
      <p:font typeface="Barlow Semi Condensed Medium" panose="00000606000000000000"/>
      <p:regular r:id="rId25"/>
    </p:embeddedFont>
    <p:embeddedFont>
      <p:font typeface="Barlow Semi Condensed" panose="00000506000000000000"/>
      <p:regular r:id="rId26"/>
    </p:embeddedFont>
    <p:embeddedFont>
      <p:font typeface="Fjalla One" panose="02000506040000020004" pitchFamily="2" charset="0"/>
      <p:regular r:id="rId27"/>
    </p:embeddedFont>
    <p:embeddedFont>
      <p:font typeface="Barlow Semi Condensed" panose="00000506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34" autoAdjust="0"/>
    <p:restoredTop sz="94660"/>
  </p:normalViewPr>
  <p:slideViewPr>
    <p:cSldViewPr snapToGrid="0">
      <p:cViewPr varScale="1">
        <p:scale>
          <a:sx n="90" d="100"/>
          <a:sy n="90" d="100"/>
        </p:scale>
        <p:origin x="81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r" rtl="0">
              <a:lnSpc>
                <a:spcPct val="100000"/>
              </a:lnSpc>
              <a:spcBef>
                <a:spcPts val="0"/>
              </a:spcBef>
              <a:spcAft>
                <a:spcPts val="0"/>
              </a:spcAft>
              <a:buClr>
                <a:schemeClr val="accent1"/>
              </a:buClr>
              <a:buSzPts val="2800"/>
              <a:buFont typeface="Barlow Semi Condensed Medium" panose="00000606000000000000"/>
              <a:buNone/>
              <a:defRPr sz="2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a:spcBef>
                <a:spcPts val="0"/>
              </a:spcBef>
              <a:spcAft>
                <a:spcPts val="0"/>
              </a:spcAft>
              <a:buNone/>
              <a:defRPr sz="19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algn="r">
              <a:spcBef>
                <a:spcPts val="0"/>
              </a:spcBef>
              <a:spcAft>
                <a:spcPts val="0"/>
              </a:spcAft>
              <a:buClr>
                <a:schemeClr val="accent1"/>
              </a:buClr>
              <a:buSzPts val="1600"/>
              <a:buFont typeface="Barlow Semi Condensed Medium" panose="00000606000000000000"/>
              <a:buNone/>
              <a:defRPr sz="16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marL="914400" lvl="1"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marL="1371600" lvl="2"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marL="1828800" lvl="3"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marL="2286000" lvl="4"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marL="2743200" lvl="5"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marL="3200400" lvl="6"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marL="3657600" lvl="7"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marL="4114800" lvl="8" indent="-317500">
              <a:spcBef>
                <a:spcPts val="0"/>
              </a:spcBef>
              <a:spcAft>
                <a:spcPts val="0"/>
              </a:spcAft>
              <a:buClr>
                <a:schemeClr val="accent5"/>
              </a:buClr>
              <a:buSzPts val="1400"/>
              <a:buFont typeface="Barlow Semi Condensed" panose="00000506000000000000"/>
              <a:buChar char="■"/>
              <a:defRPr>
                <a:solidFill>
                  <a:schemeClr val="accent5"/>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1pPr>
            <a:lvl2pPr lvl="1"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2pPr>
            <a:lvl3pPr lvl="2"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3pPr>
            <a:lvl4pPr lvl="3"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4pPr>
            <a:lvl5pPr lvl="4"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5pPr>
            <a:lvl6pPr lvl="5"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6pPr>
            <a:lvl7pPr lvl="6"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7pPr>
            <a:lvl8pPr lvl="7"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8pPr>
            <a:lvl9pPr lvl="8" rtl="0">
              <a:spcBef>
                <a:spcPts val="0"/>
              </a:spcBef>
              <a:spcAft>
                <a:spcPts val="0"/>
              </a:spcAft>
              <a:buNone/>
              <a:defRPr sz="1800">
                <a:solidFill>
                  <a:schemeClr val="accent1"/>
                </a:solidFill>
                <a:latin typeface="Barlow Semi Condensed Medium" panose="00000606000000000000"/>
                <a:ea typeface="Barlow Semi Condensed Medium" panose="00000606000000000000"/>
                <a:cs typeface="Barlow Semi Condensed Medium" panose="00000606000000000000"/>
                <a:sym typeface="Barlow Semi Condensed Medium" panose="00000606000000000000"/>
              </a:defRPr>
            </a:lvl9pPr>
          </a:lstStyle>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lvl="1"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lvl="2"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lvl="3"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lvl="4"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lvl="5"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lvl="6"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lvl="7"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lvl="8" rtl="0">
              <a:spcBef>
                <a:spcPts val="0"/>
              </a:spcBef>
              <a:spcAft>
                <a:spcPts val="0"/>
              </a:spcAft>
              <a:buNone/>
              <a:defRPr sz="16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panose="00000606000000000000"/>
              <a:buAutoNum type="arabicPeriod"/>
              <a:defRPr sz="1200">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1pPr>
            <a:lvl2pPr marL="914400" lvl="1" indent="-304800" rtl="0">
              <a:spcBef>
                <a:spcPts val="0"/>
              </a:spcBef>
              <a:spcAft>
                <a:spcPts val="0"/>
              </a:spcAft>
              <a:buClr>
                <a:srgbClr val="434343"/>
              </a:buClr>
              <a:buSzPts val="1200"/>
              <a:buFont typeface="Roboto Condensed Light" panose="02000000000000000000"/>
              <a:buAutoNum type="alpha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2pPr>
            <a:lvl3pPr marL="1371600" lvl="2" indent="-304800" rtl="0">
              <a:spcBef>
                <a:spcPts val="0"/>
              </a:spcBef>
              <a:spcAft>
                <a:spcPts val="0"/>
              </a:spcAft>
              <a:buClr>
                <a:srgbClr val="434343"/>
              </a:buClr>
              <a:buSzPts val="1200"/>
              <a:buFont typeface="Roboto Condensed Light" panose="02000000000000000000"/>
              <a:buAutoNum type="roman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3pPr>
            <a:lvl4pPr marL="1828800" lvl="3" indent="-304800" rtl="0">
              <a:spcBef>
                <a:spcPts val="0"/>
              </a:spcBef>
              <a:spcAft>
                <a:spcPts val="0"/>
              </a:spcAft>
              <a:buClr>
                <a:srgbClr val="434343"/>
              </a:buClr>
              <a:buSzPts val="1200"/>
              <a:buFont typeface="Roboto Condensed Light" panose="02000000000000000000"/>
              <a:buAutoNum type="arabi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4pPr>
            <a:lvl5pPr marL="2286000" lvl="4" indent="-304800" rtl="0">
              <a:spcBef>
                <a:spcPts val="0"/>
              </a:spcBef>
              <a:spcAft>
                <a:spcPts val="0"/>
              </a:spcAft>
              <a:buClr>
                <a:srgbClr val="434343"/>
              </a:buClr>
              <a:buSzPts val="1200"/>
              <a:buFont typeface="Roboto Condensed Light" panose="02000000000000000000"/>
              <a:buAutoNum type="alpha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5pPr>
            <a:lvl6pPr marL="2743200" lvl="5" indent="-304800" rtl="0">
              <a:spcBef>
                <a:spcPts val="0"/>
              </a:spcBef>
              <a:spcAft>
                <a:spcPts val="0"/>
              </a:spcAft>
              <a:buClr>
                <a:srgbClr val="434343"/>
              </a:buClr>
              <a:buSzPts val="1200"/>
              <a:buFont typeface="Roboto Condensed Light" panose="02000000000000000000"/>
              <a:buAutoNum type="roman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6pPr>
            <a:lvl7pPr marL="3200400" lvl="6" indent="-304800" rtl="0">
              <a:spcBef>
                <a:spcPts val="0"/>
              </a:spcBef>
              <a:spcAft>
                <a:spcPts val="0"/>
              </a:spcAft>
              <a:buClr>
                <a:srgbClr val="434343"/>
              </a:buClr>
              <a:buSzPts val="1200"/>
              <a:buFont typeface="Roboto Condensed Light" panose="02000000000000000000"/>
              <a:buAutoNum type="arabi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7pPr>
            <a:lvl8pPr marL="3657600" lvl="7" indent="-304800" rtl="0">
              <a:spcBef>
                <a:spcPts val="0"/>
              </a:spcBef>
              <a:spcAft>
                <a:spcPts val="0"/>
              </a:spcAft>
              <a:buClr>
                <a:srgbClr val="434343"/>
              </a:buClr>
              <a:buSzPts val="1200"/>
              <a:buFont typeface="Roboto Condensed Light" panose="02000000000000000000"/>
              <a:buAutoNum type="alpha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8pPr>
            <a:lvl9pPr marL="4114800" lvl="8" indent="-304800" rtl="0">
              <a:spcBef>
                <a:spcPts val="0"/>
              </a:spcBef>
              <a:spcAft>
                <a:spcPts val="0"/>
              </a:spcAft>
              <a:buClr>
                <a:srgbClr val="434343"/>
              </a:buClr>
              <a:buSzPts val="1200"/>
              <a:buFont typeface="Roboto Condensed Light" panose="02000000000000000000"/>
              <a:buAutoNum type="romanLcPeriod"/>
              <a:defRPr>
                <a:solidFill>
                  <a:schemeClr val="dk2"/>
                </a:solidFill>
                <a:latin typeface="Barlow Semi Condensed" panose="00000506000000000000"/>
                <a:ea typeface="Barlow Semi Condensed" panose="00000506000000000000"/>
                <a:cs typeface="Barlow Semi Condensed" panose="00000506000000000000"/>
                <a:sym typeface="Barlow Semi Condensed" panose="00000506000000000000"/>
              </a:defRPr>
            </a:lvl9pPr>
          </a:lstStyle>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panose="02000506040000020004"/>
              <a:buNone/>
              <a:defRPr sz="2800">
                <a:solidFill>
                  <a:schemeClr val="dk2"/>
                </a:solidFill>
                <a:latin typeface="Fjalla One" panose="02000506040000020004"/>
                <a:ea typeface="Fjalla One" panose="02000506040000020004"/>
                <a:cs typeface="Fjalla One" panose="02000506040000020004"/>
                <a:sym typeface="Fjalla One" panose="02000506040000020004"/>
              </a:defRPr>
            </a:lvl1pPr>
            <a:lvl2pPr lvl="1" rtl="0">
              <a:spcBef>
                <a:spcPts val="0"/>
              </a:spcBef>
              <a:spcAft>
                <a:spcPts val="0"/>
              </a:spcAft>
              <a:buClr>
                <a:schemeClr val="dk2"/>
              </a:buClr>
              <a:buSzPts val="2800"/>
              <a:buFont typeface="Fjalla One" panose="02000506040000020004"/>
              <a:buNone/>
              <a:defRPr sz="2800">
                <a:solidFill>
                  <a:schemeClr val="dk2"/>
                </a:solidFill>
                <a:latin typeface="Fjalla One" panose="02000506040000020004"/>
                <a:ea typeface="Fjalla One" panose="02000506040000020004"/>
                <a:cs typeface="Fjalla One" panose="02000506040000020004"/>
                <a:sym typeface="Fjalla One" panose="02000506040000020004"/>
              </a:defRPr>
            </a:lvl2pPr>
            <a:lvl3pPr lvl="2" rtl="0">
              <a:spcBef>
                <a:spcPts val="0"/>
              </a:spcBef>
              <a:spcAft>
                <a:spcPts val="0"/>
              </a:spcAft>
              <a:buClr>
                <a:schemeClr val="dk2"/>
              </a:buClr>
              <a:buSzPts val="2800"/>
              <a:buFont typeface="Fjalla One" panose="02000506040000020004"/>
              <a:buNone/>
              <a:defRPr sz="2800">
                <a:solidFill>
                  <a:schemeClr val="dk2"/>
                </a:solidFill>
                <a:latin typeface="Fjalla One" panose="02000506040000020004"/>
                <a:ea typeface="Fjalla One" panose="02000506040000020004"/>
                <a:cs typeface="Fjalla One" panose="02000506040000020004"/>
                <a:sym typeface="Fjalla One" panose="02000506040000020004"/>
              </a:defRPr>
            </a:lvl3pPr>
            <a:lvl4pPr lvl="3" rtl="0">
              <a:spcBef>
                <a:spcPts val="0"/>
              </a:spcBef>
              <a:spcAft>
                <a:spcPts val="0"/>
              </a:spcAft>
              <a:buClr>
                <a:schemeClr val="dk2"/>
              </a:buClr>
              <a:buSzPts val="2800"/>
              <a:buFont typeface="Fjalla One" panose="02000506040000020004"/>
              <a:buNone/>
              <a:defRPr sz="2800">
                <a:solidFill>
                  <a:schemeClr val="dk2"/>
                </a:solidFill>
                <a:latin typeface="Fjalla One" panose="02000506040000020004"/>
                <a:ea typeface="Fjalla One" panose="02000506040000020004"/>
                <a:cs typeface="Fjalla One" panose="02000506040000020004"/>
                <a:sym typeface="Fjalla One" panose="02000506040000020004"/>
              </a:defRPr>
            </a:lvl4pPr>
            <a:lvl5pPr lvl="4" rtl="0">
              <a:spcBef>
                <a:spcPts val="0"/>
              </a:spcBef>
              <a:spcAft>
                <a:spcPts val="0"/>
              </a:spcAft>
              <a:buClr>
                <a:schemeClr val="dk2"/>
              </a:buClr>
              <a:buSzPts val="2800"/>
              <a:buFont typeface="Fjalla One" panose="02000506040000020004"/>
              <a:buNone/>
              <a:defRPr sz="2800">
                <a:solidFill>
                  <a:schemeClr val="dk2"/>
                </a:solidFill>
                <a:latin typeface="Fjalla One" panose="02000506040000020004"/>
                <a:ea typeface="Fjalla One" panose="02000506040000020004"/>
                <a:cs typeface="Fjalla One" panose="02000506040000020004"/>
                <a:sym typeface="Fjalla One" panose="02000506040000020004"/>
              </a:defRPr>
            </a:lvl5pPr>
            <a:lvl6pPr lvl="5" rtl="0">
              <a:spcBef>
                <a:spcPts val="0"/>
              </a:spcBef>
              <a:spcAft>
                <a:spcPts val="0"/>
              </a:spcAft>
              <a:buClr>
                <a:schemeClr val="dk2"/>
              </a:buClr>
              <a:buSzPts val="2800"/>
              <a:buFont typeface="Fjalla One" panose="02000506040000020004"/>
              <a:buNone/>
              <a:defRPr sz="2800">
                <a:solidFill>
                  <a:schemeClr val="dk2"/>
                </a:solidFill>
                <a:latin typeface="Fjalla One" panose="02000506040000020004"/>
                <a:ea typeface="Fjalla One" panose="02000506040000020004"/>
                <a:cs typeface="Fjalla One" panose="02000506040000020004"/>
                <a:sym typeface="Fjalla One" panose="02000506040000020004"/>
              </a:defRPr>
            </a:lvl6pPr>
            <a:lvl7pPr lvl="6" rtl="0">
              <a:spcBef>
                <a:spcPts val="0"/>
              </a:spcBef>
              <a:spcAft>
                <a:spcPts val="0"/>
              </a:spcAft>
              <a:buClr>
                <a:schemeClr val="dk2"/>
              </a:buClr>
              <a:buSzPts val="2800"/>
              <a:buFont typeface="Fjalla One" panose="02000506040000020004"/>
              <a:buNone/>
              <a:defRPr sz="2800">
                <a:solidFill>
                  <a:schemeClr val="dk2"/>
                </a:solidFill>
                <a:latin typeface="Fjalla One" panose="02000506040000020004"/>
                <a:ea typeface="Fjalla One" panose="02000506040000020004"/>
                <a:cs typeface="Fjalla One" panose="02000506040000020004"/>
                <a:sym typeface="Fjalla One" panose="02000506040000020004"/>
              </a:defRPr>
            </a:lvl7pPr>
            <a:lvl8pPr lvl="7" rtl="0">
              <a:spcBef>
                <a:spcPts val="0"/>
              </a:spcBef>
              <a:spcAft>
                <a:spcPts val="0"/>
              </a:spcAft>
              <a:buClr>
                <a:schemeClr val="dk2"/>
              </a:buClr>
              <a:buSzPts val="2800"/>
              <a:buFont typeface="Fjalla One" panose="02000506040000020004"/>
              <a:buNone/>
              <a:defRPr sz="2800">
                <a:solidFill>
                  <a:schemeClr val="dk2"/>
                </a:solidFill>
                <a:latin typeface="Fjalla One" panose="02000506040000020004"/>
                <a:ea typeface="Fjalla One" panose="02000506040000020004"/>
                <a:cs typeface="Fjalla One" panose="02000506040000020004"/>
                <a:sym typeface="Fjalla One" panose="02000506040000020004"/>
              </a:defRPr>
            </a:lvl8pPr>
            <a:lvl9pPr lvl="8" rtl="0">
              <a:spcBef>
                <a:spcPts val="0"/>
              </a:spcBef>
              <a:spcAft>
                <a:spcPts val="0"/>
              </a:spcAft>
              <a:buClr>
                <a:schemeClr val="dk2"/>
              </a:buClr>
              <a:buSzPts val="2800"/>
              <a:buFont typeface="Fjalla One" panose="02000506040000020004"/>
              <a:buNone/>
              <a:defRPr sz="2800">
                <a:solidFill>
                  <a:schemeClr val="dk2"/>
                </a:solidFill>
                <a:latin typeface="Fjalla One" panose="02000506040000020004"/>
                <a:ea typeface="Fjalla One" panose="02000506040000020004"/>
                <a:cs typeface="Fjalla One" panose="02000506040000020004"/>
                <a:sym typeface="Fjalla One" panose="020005060400000200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884" name="Google Shape;1884;p35"/>
          <p:cNvSpPr txBox="1">
            <a:spLocks noGrp="1"/>
          </p:cNvSpPr>
          <p:nvPr>
            <p:ph type="ctrTitle"/>
          </p:nvPr>
        </p:nvSpPr>
        <p:spPr>
          <a:xfrm>
            <a:off x="3879830" y="1577067"/>
            <a:ext cx="5046455" cy="1265488"/>
          </a:xfrm>
          <a:prstGeom prst="rect">
            <a:avLst/>
          </a:prstGeom>
        </p:spPr>
        <p:txBody>
          <a:bodyPr spcFirstLastPara="1" wrap="square" lIns="91425" tIns="91425" rIns="91425" bIns="91425" anchor="b" anchorCtr="0">
            <a:noAutofit/>
          </a:bodyPr>
          <a:lstStyle/>
          <a:p>
            <a:r>
              <a:rPr lang="en-IN" sz="2800" b="1" dirty="0"/>
              <a:t>CONVERT ENTERPRISE PDFS INTO SEARCHABLE KNOWLEDGE </a:t>
            </a:r>
            <a:endParaRPr lang="en-US" sz="2800" dirty="0"/>
          </a:p>
        </p:txBody>
      </p:sp>
      <p:sp>
        <p:nvSpPr>
          <p:cNvPr id="1885" name="Google Shape;1885;p35"/>
          <p:cNvSpPr txBox="1">
            <a:spLocks noGrp="1"/>
          </p:cNvSpPr>
          <p:nvPr>
            <p:ph type="subTitle" idx="1"/>
          </p:nvPr>
        </p:nvSpPr>
        <p:spPr>
          <a:xfrm>
            <a:off x="5569527" y="3296122"/>
            <a:ext cx="3823854" cy="1265487"/>
          </a:xfrm>
          <a:prstGeom prst="rect">
            <a:avLst/>
          </a:prstGeom>
        </p:spPr>
        <p:txBody>
          <a:bodyPr spcFirstLastPara="1" wrap="square" lIns="91425" tIns="91425" rIns="91425" bIns="91425" anchor="t" anchorCtr="0">
            <a:noAutofit/>
          </a:bodyPr>
          <a:lstStyle/>
          <a:p>
            <a:pPr algn="l">
              <a:buClr>
                <a:schemeClr val="dk1"/>
              </a:buClr>
              <a:buSzPts val="1100"/>
            </a:pPr>
            <a:r>
              <a:rPr lang="en-US" sz="1600" dirty="0"/>
              <a:t>Ismail Sk	         	 </a:t>
            </a:r>
            <a:r>
              <a:rPr lang="en-IN" sz="1600" dirty="0"/>
              <a:t>11601022070</a:t>
            </a:r>
            <a:endParaRPr lang="en-IN" sz="1600" dirty="0"/>
          </a:p>
          <a:p>
            <a:pPr algn="l">
              <a:buClr>
                <a:schemeClr val="dk1"/>
              </a:buClr>
              <a:buSzPts val="1100"/>
            </a:pPr>
            <a:r>
              <a:rPr lang="en-US" sz="1600" dirty="0"/>
              <a:t>Supratim Nag     	 </a:t>
            </a:r>
            <a:r>
              <a:rPr lang="en-IN" sz="1600" dirty="0"/>
              <a:t>11601022064</a:t>
            </a:r>
            <a:endParaRPr lang="en-IN" sz="1600" dirty="0"/>
          </a:p>
          <a:p>
            <a:pPr algn="l">
              <a:buClr>
                <a:schemeClr val="dk1"/>
              </a:buClr>
              <a:buSzPts val="1100"/>
            </a:pPr>
            <a:r>
              <a:rPr lang="en-US" sz="1600" dirty="0"/>
              <a:t>Sanchari Biswas	 </a:t>
            </a:r>
            <a:r>
              <a:rPr lang="en-IN" sz="1600" dirty="0"/>
              <a:t>11601022049</a:t>
            </a:r>
            <a:endParaRPr lang="en-IN" sz="1600" dirty="0"/>
          </a:p>
          <a:p>
            <a:pPr algn="l">
              <a:buClr>
                <a:schemeClr val="dk1"/>
              </a:buClr>
              <a:buSzPts val="1100"/>
            </a:pPr>
            <a:endParaRPr lang="en-US" sz="1600" dirty="0"/>
          </a:p>
          <a:p>
            <a:pPr lvl="0" algn="l">
              <a:buClr>
                <a:schemeClr val="dk1"/>
              </a:buClr>
              <a:buSzPts val="1100"/>
            </a:pPr>
            <a:endParaRPr lang="en-US" sz="1600" dirty="0"/>
          </a:p>
          <a:p>
            <a:pPr algn="l">
              <a:buClr>
                <a:schemeClr val="dk1"/>
              </a:buClr>
              <a:buSzPts val="1100"/>
            </a:pPr>
            <a:endParaRPr lang="en-US" sz="1600" dirty="0"/>
          </a:p>
          <a:p>
            <a:pPr lvl="0" algn="l">
              <a:buClr>
                <a:schemeClr val="dk1"/>
              </a:buClr>
              <a:buSzPts val="1100"/>
            </a:pPr>
            <a:endParaRPr lang="en-US" sz="1600" dirty="0"/>
          </a:p>
          <a:p>
            <a:pPr algn="l">
              <a:buClr>
                <a:schemeClr val="dk1"/>
              </a:buClr>
              <a:buSzPts val="1100"/>
            </a:pPr>
            <a:endParaRPr lang="en-US" sz="1600" dirty="0"/>
          </a:p>
          <a:p>
            <a:pPr algn="l">
              <a:buClr>
                <a:schemeClr val="dk1"/>
              </a:buClr>
              <a:buSzPts val="1100"/>
            </a:pPr>
            <a:endParaRPr lang="en-US" sz="1600" dirty="0"/>
          </a:p>
          <a:p>
            <a:pPr lvl="0" algn="l">
              <a:buClr>
                <a:schemeClr val="dk1"/>
              </a:buClr>
              <a:buSzPts val="1100"/>
            </a:pPr>
            <a:endParaRPr lang="en-US" sz="1600" dirty="0"/>
          </a:p>
          <a:p>
            <a:pPr lvl="0" algn="l">
              <a:buClr>
                <a:schemeClr val="dk1"/>
              </a:buClr>
              <a:buSzPts val="1100"/>
            </a:pPr>
            <a:endParaRPr lang="en-US" sz="1600" dirty="0"/>
          </a:p>
          <a:p>
            <a:pPr marL="0" lvl="0" indent="0" algn="l" rtl="0">
              <a:spcBef>
                <a:spcPts val="0"/>
              </a:spcBef>
              <a:spcAft>
                <a:spcPts val="0"/>
              </a:spcAft>
              <a:buClr>
                <a:schemeClr val="dk1"/>
              </a:buClr>
              <a:buSzPts val="1100"/>
              <a:buFont typeface="Arial" panose="020B0604020202020204"/>
              <a:buNone/>
            </a:pPr>
            <a:endParaRPr sz="1600" dirty="0">
              <a:solidFill>
                <a:schemeClr val="accent1"/>
              </a:solidFill>
            </a:endParaRPr>
          </a:p>
          <a:p>
            <a:pPr marL="0" lvl="0" indent="0" algn="r" rtl="0">
              <a:spcBef>
                <a:spcPts val="0"/>
              </a:spcBef>
              <a:spcAft>
                <a:spcPts val="0"/>
              </a:spcAft>
              <a:buNone/>
            </a:pPr>
            <a:endParaRPr sz="16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6795" y="434021"/>
            <a:ext cx="2250407" cy="576000"/>
          </a:xfrm>
        </p:spPr>
        <p:txBody>
          <a:bodyPr/>
          <a:lstStyle/>
          <a:p>
            <a:r>
              <a:rPr lang="en-US" u="sng" dirty="0"/>
              <a:t>Introduction</a:t>
            </a:r>
            <a:endParaRPr lang="en-US" u="sng" dirty="0"/>
          </a:p>
        </p:txBody>
      </p:sp>
      <p:sp>
        <p:nvSpPr>
          <p:cNvPr id="3" name="Text Placeholder 2"/>
          <p:cNvSpPr>
            <a:spLocks noGrp="1"/>
          </p:cNvSpPr>
          <p:nvPr>
            <p:ph type="body" idx="1"/>
          </p:nvPr>
        </p:nvSpPr>
        <p:spPr>
          <a:xfrm>
            <a:off x="1036674" y="1010021"/>
            <a:ext cx="7070651" cy="3529500"/>
          </a:xfrm>
        </p:spPr>
        <p:txBody>
          <a:bodyPr/>
          <a:lstStyle/>
          <a:p>
            <a:pPr marL="152400" indent="0" algn="just">
              <a:buNone/>
            </a:pPr>
            <a:r>
              <a:rPr lang="en-US" dirty="0"/>
              <a:t>In modern enterprises, critical information is distributed across thousands of PDF documents, including technical manuals, policy files, research papers, compliance documents, audit reports, and scanned letters. Although these documents hold valuable institutional knowledge, most of them remain unstructured, inconsistently formatted, and difficult to search. Traditional keyword-based search systems often fail to retrieve accurate information because they cannot understand document context, layout structures, tables, figures, or scanned text. As a result, employees spend considerable time manually searching through large PDF repositories, leading to reduced productivity and inefficient knowledge management.</a:t>
            </a:r>
            <a:endParaRPr lang="en-US" dirty="0"/>
          </a:p>
          <a:p>
            <a:pPr marL="152400" indent="0" algn="just">
              <a:buNone/>
            </a:pPr>
            <a:r>
              <a:rPr lang="en-US" dirty="0"/>
              <a:t>With the rapid advancement of Generative AI and Retrieval-Augmented Generation (RAG) systems, organizations now have the opportunity to transition from basic keyword search to semantic, meaning-based document retrieval. This project addresses the need for an intelligent system that can transform unstructured and scanned PDFs into structured, searchable knowledge. The objective is to design a robust pipeline capable of accurately extracting text, tables, images, and charts from PDF documents and organizing them in a format optimized for efficient retrieval.</a:t>
            </a:r>
            <a:endParaRPr lang="en-US" dirty="0"/>
          </a:p>
          <a:p>
            <a:pPr marL="152400" indent="0" algn="just">
              <a:buNone/>
            </a:pPr>
            <a:r>
              <a:rPr lang="en-US" dirty="0"/>
              <a:t>By integrating OCR for scanned content, meaningful text chunking, table extraction into a NoSQL database, and vector-based semantic search for contextual accuracy, the proposed system aims to significantly reduce information lookup time and enhance enterprise-wide knowledge accessibility. Ultimately, the project seeks to enable instant information discovery, remove bottlenecks associated with manual document search, and establish a strong foundation for future AI-powered enterprise knowledge assistants.</a:t>
            </a:r>
            <a:endParaRPr lang="en-US" dirty="0"/>
          </a:p>
          <a:p>
            <a:pPr marL="152400" indent="0" algn="just">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3889243" y="409834"/>
            <a:ext cx="1365513" cy="512663"/>
          </a:xfrm>
          <a:prstGeom prst="rect">
            <a:avLst/>
          </a:prstGeom>
        </p:spPr>
        <p:txBody>
          <a:bodyPr spcFirstLastPara="1" wrap="square" lIns="91425" tIns="91425" rIns="91425" bIns="91425" anchor="t" anchorCtr="0">
            <a:noAutofit/>
          </a:bodyPr>
          <a:lstStyle/>
          <a:p>
            <a:pPr algn="just"/>
            <a:r>
              <a:rPr lang="en-US" u="sng" dirty="0"/>
              <a:t>Abstract </a:t>
            </a:r>
            <a:br>
              <a:rPr lang="en-US" dirty="0"/>
            </a:br>
            <a:endParaRPr dirty="0"/>
          </a:p>
        </p:txBody>
      </p:sp>
      <p:sp>
        <p:nvSpPr>
          <p:cNvPr id="1891" name="Google Shape;1891;p36"/>
          <p:cNvSpPr txBox="1">
            <a:spLocks noGrp="1"/>
          </p:cNvSpPr>
          <p:nvPr>
            <p:ph type="body" idx="1"/>
          </p:nvPr>
        </p:nvSpPr>
        <p:spPr>
          <a:xfrm>
            <a:off x="1041991" y="848069"/>
            <a:ext cx="7060018" cy="3066595"/>
          </a:xfrm>
          <a:prstGeom prst="rect">
            <a:avLst/>
          </a:prstGeom>
        </p:spPr>
        <p:txBody>
          <a:bodyPr spcFirstLastPara="1" wrap="square" lIns="91425" tIns="91425" rIns="91425" bIns="91425" anchor="ctr" anchorCtr="0">
            <a:noAutofit/>
          </a:bodyPr>
          <a:lstStyle/>
          <a:p>
            <a:pPr marL="152400" indent="0" algn="just">
              <a:buNone/>
            </a:pPr>
            <a:r>
              <a:rPr lang="en-IN" dirty="0"/>
              <a:t>Enterprise organizations store vast volumes of information in PDF formats such as manuals, policies, reports, technical documentation, and scanned records. However, retrieving relevant information from these unstructured documents is time-consuming and inefficient due to the lack of semantic search capabilities. This project aims to develop a system that converts unstructured and scanned PDF documents into structured and searchable knowledge.</a:t>
            </a:r>
            <a:endParaRPr lang="en-US" dirty="0"/>
          </a:p>
          <a:p>
            <a:pPr marL="152400" indent="0" algn="just">
              <a:buNone/>
            </a:pPr>
            <a:r>
              <a:rPr lang="en-IN" dirty="0"/>
              <a:t>The proposed solution integrates Optical Character Recognition (OCR), intelligent document segmentation, table extraction, and vector-based semantic search. Text is divided into meaningful sections without disrupting chapter boundaries, tables are extracted and stored in a NoSQL database for precise queries, and the processed text is embedded into a vector database to enable context-aware information retrieval. Additionally, images and charts are translated into textual descriptions to make multimedia content searchable.</a:t>
            </a:r>
            <a:endParaRPr lang="en-US" dirty="0"/>
          </a:p>
          <a:p>
            <a:pPr marL="152400" indent="0" algn="just">
              <a:buNone/>
            </a:pPr>
            <a:r>
              <a:rPr lang="en-IN" dirty="0"/>
              <a:t>The project is being developed as part of the </a:t>
            </a:r>
            <a:r>
              <a:rPr lang="en-IN" b="1" dirty="0"/>
              <a:t>Intel® Unnati Industrial Training Program</a:t>
            </a:r>
            <a:r>
              <a:rPr lang="en-IN" dirty="0"/>
              <a:t>, and is currently in progress. Upon completion, the system is expected to deliver an end-to-end pipeline that transforms enterprise PDFs into a searchable knowledge base along with a search interface for efficient retrieval. This approach aims to reduce manual document exploration time, improve organizational knowledge accessibility, and provide a scalable foundation for enterprise-grade information management.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2106" name="Google Shape;2106;p37"/>
          <p:cNvGrpSpPr/>
          <p:nvPr/>
        </p:nvGrpSpPr>
        <p:grpSpPr>
          <a:xfrm>
            <a:off x="179044" y="108253"/>
            <a:ext cx="317550" cy="328575"/>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40" name="Google Shape;2140;p37"/>
          <p:cNvSpPr txBox="1">
            <a:spLocks noGrp="1"/>
          </p:cNvSpPr>
          <p:nvPr>
            <p:ph type="subTitle" idx="4294967295"/>
          </p:nvPr>
        </p:nvSpPr>
        <p:spPr>
          <a:xfrm>
            <a:off x="3899707" y="466272"/>
            <a:ext cx="1408380" cy="564373"/>
          </a:xfrm>
          <a:prstGeom prst="rect">
            <a:avLst/>
          </a:prstGeom>
        </p:spPr>
        <p:txBody>
          <a:bodyPr spcFirstLastPara="1" wrap="square" lIns="91425" tIns="91425" rIns="91425" bIns="91425" anchor="t" anchorCtr="0">
            <a:noAutofit/>
          </a:bodyPr>
          <a:lstStyle/>
          <a:p>
            <a:pPr lvl="0" algn="ctr">
              <a:lnSpc>
                <a:spcPct val="115000"/>
              </a:lnSpc>
            </a:pPr>
            <a:r>
              <a:rPr lang="en-US" sz="2400" dirty="0">
                <a:latin typeface="Fjalla One" panose="02000506040000020004" pitchFamily="2" charset="0"/>
              </a:rPr>
              <a:t> </a:t>
            </a:r>
            <a:r>
              <a:rPr lang="en-US" sz="2400" b="1" u="sng" dirty="0">
                <a:solidFill>
                  <a:schemeClr val="accent6">
                    <a:lumMod val="50000"/>
                  </a:schemeClr>
                </a:solidFill>
                <a:latin typeface="Fjalla One" panose="02000506040000020004" pitchFamily="2" charset="0"/>
              </a:rPr>
              <a:t>Problems</a:t>
            </a:r>
            <a:endParaRPr sz="2400" b="1" u="sng" dirty="0">
              <a:solidFill>
                <a:schemeClr val="accent6">
                  <a:lumMod val="50000"/>
                </a:schemeClr>
              </a:solidFill>
              <a:latin typeface="Fjalla One" panose="02000506040000020004" pitchFamily="2" charset="0"/>
            </a:endParaRPr>
          </a:p>
        </p:txBody>
      </p:sp>
      <p:sp>
        <p:nvSpPr>
          <p:cNvPr id="5" name="Rectangle 3"/>
          <p:cNvSpPr>
            <a:spLocks noGrp="1" noChangeArrowheads="1"/>
          </p:cNvSpPr>
          <p:nvPr>
            <p:ph type="subTitle" idx="4294967295"/>
          </p:nvPr>
        </p:nvSpPr>
        <p:spPr bwMode="auto">
          <a:xfrm>
            <a:off x="1818167" y="1061650"/>
            <a:ext cx="5571461" cy="28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Barlow Semi Condensed" panose="00000506000000000000" pitchFamily="2" charset="0"/>
              </a:rPr>
              <a:t>Modern enterprises store critical knowledge in thousands of PDFs (manuals, policies, research papers, audits, scanned documents).</a:t>
            </a:r>
            <a:endParaRPr kumimoji="0" lang="en-US" altLang="en-US" sz="1200" b="0" i="0" u="none" strike="noStrike" cap="none" normalizeH="0" baseline="0" dirty="0">
              <a:ln>
                <a:noFill/>
              </a:ln>
              <a:solidFill>
                <a:schemeClr val="tx1"/>
              </a:solidFill>
              <a:effectLst/>
              <a:latin typeface="Barlow Semi Condensed" panose="00000506000000000000" pitchFamily="2"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Barlow Semi Condensed" panose="00000506000000000000" pitchFamily="2" charset="0"/>
              </a:rPr>
              <a:t>Most PDFs are </a:t>
            </a:r>
            <a:r>
              <a:rPr kumimoji="0" lang="en-US" altLang="en-US" sz="1200" b="1" i="0" u="none" strike="noStrike" cap="none" normalizeH="0" baseline="0" dirty="0">
                <a:ln>
                  <a:noFill/>
                </a:ln>
                <a:solidFill>
                  <a:schemeClr val="tx1"/>
                </a:solidFill>
                <a:effectLst/>
                <a:latin typeface="Barlow Semi Condensed" panose="00000506000000000000" pitchFamily="2" charset="0"/>
              </a:rPr>
              <a:t>unstructured</a:t>
            </a:r>
            <a:r>
              <a:rPr kumimoji="0" lang="en-US" altLang="en-US" sz="1200" b="0" i="0" u="none" strike="noStrike" cap="none" normalizeH="0" baseline="0" dirty="0">
                <a:ln>
                  <a:noFill/>
                </a:ln>
                <a:solidFill>
                  <a:schemeClr val="tx1"/>
                </a:solidFill>
                <a:effectLst/>
                <a:latin typeface="Barlow Semi Condensed" panose="00000506000000000000" pitchFamily="2" charset="0"/>
              </a:rPr>
              <a:t>, inconsistently formatted, and difficult to search.</a:t>
            </a:r>
            <a:endParaRPr kumimoji="0" lang="en-US" altLang="en-US" sz="1200" b="0" i="0" u="none" strike="noStrike" cap="none" normalizeH="0" baseline="0" dirty="0">
              <a:ln>
                <a:noFill/>
              </a:ln>
              <a:solidFill>
                <a:schemeClr val="tx1"/>
              </a:solidFill>
              <a:effectLst/>
              <a:latin typeface="Barlow Semi Condensed" panose="00000506000000000000" pitchFamily="2"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Barlow Semi Condensed" panose="00000506000000000000" pitchFamily="2" charset="0"/>
              </a:rPr>
              <a:t>Traditional </a:t>
            </a:r>
            <a:r>
              <a:rPr kumimoji="0" lang="en-US" altLang="en-US" sz="1200" b="1" i="0" u="none" strike="noStrike" cap="none" normalizeH="0" baseline="0" dirty="0">
                <a:ln>
                  <a:noFill/>
                </a:ln>
                <a:solidFill>
                  <a:schemeClr val="tx1"/>
                </a:solidFill>
                <a:effectLst/>
                <a:latin typeface="Barlow Semi Condensed" panose="00000506000000000000" pitchFamily="2" charset="0"/>
              </a:rPr>
              <a:t>keyword-based search</a:t>
            </a:r>
            <a:r>
              <a:rPr kumimoji="0" lang="en-US" altLang="en-US" sz="1200" b="0" i="0" u="none" strike="noStrike" cap="none" normalizeH="0" baseline="0" dirty="0">
                <a:ln>
                  <a:noFill/>
                </a:ln>
                <a:solidFill>
                  <a:schemeClr val="tx1"/>
                </a:solidFill>
                <a:effectLst/>
                <a:latin typeface="Barlow Semi Condensed" panose="00000506000000000000" pitchFamily="2" charset="0"/>
              </a:rPr>
              <a:t> fails to understand:</a:t>
            </a:r>
            <a:endParaRPr kumimoji="0" lang="en-US" altLang="en-US" sz="1200" b="0" i="0" u="none" strike="noStrike" cap="none" normalizeH="0" baseline="0" dirty="0">
              <a:ln>
                <a:noFill/>
              </a:ln>
              <a:solidFill>
                <a:schemeClr val="tx1"/>
              </a:solidFill>
              <a:effectLst/>
              <a:latin typeface="Barlow Semi Condensed" panose="00000506000000000000" pitchFamily="2"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Barlow Semi Condensed" panose="00000506000000000000" pitchFamily="2" charset="0"/>
              </a:rPr>
              <a:t>Context and semantics</a:t>
            </a:r>
            <a:endParaRPr lang="en-US" altLang="en-US" sz="1200" dirty="0">
              <a:solidFill>
                <a:schemeClr val="tx1"/>
              </a:solidFill>
              <a:latin typeface="Barlow Semi Condensed" panose="00000506000000000000" pitchFamily="2" charset="0"/>
            </a:endParaRPr>
          </a:p>
          <a:p>
            <a:pPr marL="285750" lvl="6" indent="-285750" eaLnBrk="0" fontAlgn="base" hangingPunct="0">
              <a:lnSpc>
                <a:spcPct val="150000"/>
              </a:lnSpc>
              <a:spcBef>
                <a:spcPct val="0"/>
              </a:spcBef>
              <a:spcAft>
                <a:spcPct val="0"/>
              </a:spcAft>
              <a:buClrTx/>
              <a:buFont typeface="+mj-lt"/>
              <a:buAutoNum type="romanUcPeriod"/>
            </a:pPr>
            <a:r>
              <a:rPr lang="en-US" altLang="en-US" sz="1200" dirty="0">
                <a:solidFill>
                  <a:schemeClr val="tx1"/>
                </a:solidFill>
                <a:latin typeface="Barlow Semi Condensed" panose="00000506000000000000" pitchFamily="2" charset="0"/>
              </a:rPr>
              <a:t>Layout and structure</a:t>
            </a:r>
            <a:endParaRPr lang="en-US" altLang="en-US" sz="1200" dirty="0">
              <a:solidFill>
                <a:schemeClr val="tx1"/>
              </a:solidFill>
              <a:latin typeface="Barlow Semi Condensed" panose="00000506000000000000" pitchFamily="2" charset="0"/>
            </a:endParaRPr>
          </a:p>
          <a:p>
            <a:pPr marL="285750" lvl="8" indent="-285750" eaLnBrk="0" fontAlgn="base" hangingPunct="0">
              <a:lnSpc>
                <a:spcPct val="150000"/>
              </a:lnSpc>
              <a:spcBef>
                <a:spcPct val="0"/>
              </a:spcBef>
              <a:spcAft>
                <a:spcPct val="0"/>
              </a:spcAft>
              <a:buClrTx/>
              <a:buFont typeface="+mj-lt"/>
              <a:buAutoNum type="romanUcPeriod"/>
            </a:pPr>
            <a:r>
              <a:rPr lang="en-US" altLang="en-US" sz="1200" dirty="0">
                <a:solidFill>
                  <a:schemeClr val="tx1"/>
                </a:solidFill>
                <a:latin typeface="Barlow Semi Condensed" panose="00000506000000000000" pitchFamily="2" charset="0"/>
              </a:rPr>
              <a:t>Tables, figures, charts</a:t>
            </a:r>
            <a:endParaRPr lang="en-US" altLang="en-US" sz="1200" dirty="0">
              <a:solidFill>
                <a:schemeClr val="tx1"/>
              </a:solidFill>
              <a:latin typeface="Barlow Semi Condensed" panose="00000506000000000000" pitchFamily="2" charset="0"/>
            </a:endParaRPr>
          </a:p>
          <a:p>
            <a:pPr marL="285750" lvl="8" indent="-285750" eaLnBrk="0" fontAlgn="base" hangingPunct="0">
              <a:lnSpc>
                <a:spcPct val="150000"/>
              </a:lnSpc>
              <a:spcBef>
                <a:spcPct val="0"/>
              </a:spcBef>
              <a:spcAft>
                <a:spcPct val="0"/>
              </a:spcAft>
              <a:buClrTx/>
              <a:buFont typeface="+mj-lt"/>
              <a:buAutoNum type="romanUcPeriod"/>
            </a:pPr>
            <a:r>
              <a:rPr lang="en-US" altLang="en-US" sz="1200" dirty="0">
                <a:solidFill>
                  <a:schemeClr val="tx1"/>
                </a:solidFill>
                <a:latin typeface="Barlow Semi Condensed" panose="00000506000000000000" pitchFamily="2" charset="0"/>
              </a:rPr>
              <a:t>Scanned or image-based text</a:t>
            </a:r>
            <a:endParaRPr kumimoji="0" lang="en-US" altLang="en-US" sz="1200" b="0" i="0" u="none" strike="noStrike" cap="none" normalizeH="0" baseline="0" dirty="0">
              <a:ln>
                <a:noFill/>
              </a:ln>
              <a:solidFill>
                <a:schemeClr val="tx1"/>
              </a:solidFill>
              <a:effectLst/>
              <a:latin typeface="Barlow Semi Condensed" panose="00000506000000000000" pitchFamily="2" charset="0"/>
            </a:endParaRPr>
          </a:p>
          <a:p>
            <a:pPr marL="171450" marR="0" lvl="0" indent="-171450" algn="l" defTabSz="914400" rtl="0" eaLnBrk="0" fontAlgn="base" latinLnBrk="0" hangingPunct="0">
              <a:lnSpc>
                <a:spcPct val="15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Barlow Semi Condensed" panose="00000506000000000000" pitchFamily="2" charset="0"/>
              </a:rPr>
              <a:t>Employees spend significant time manually searching documents → </a:t>
            </a:r>
            <a:r>
              <a:rPr kumimoji="0" lang="en-US" altLang="en-US" sz="1200" b="1" i="0" u="none" strike="noStrike" cap="none" normalizeH="0" baseline="0" dirty="0">
                <a:ln>
                  <a:noFill/>
                </a:ln>
                <a:solidFill>
                  <a:schemeClr val="tx1"/>
                </a:solidFill>
                <a:effectLst/>
                <a:latin typeface="Barlow Semi Condensed" panose="00000506000000000000" pitchFamily="2" charset="0"/>
              </a:rPr>
              <a:t>low productivity</a:t>
            </a:r>
            <a:r>
              <a:rPr kumimoji="0" lang="en-US" altLang="en-US" sz="1200" b="0" i="0" u="none" strike="noStrike" cap="none" normalizeH="0" baseline="0" dirty="0">
                <a:ln>
                  <a:noFill/>
                </a:ln>
                <a:solidFill>
                  <a:schemeClr val="tx1"/>
                </a:solidFill>
                <a:effectLst/>
                <a:latin typeface="Barlow Semi Condensed" panose="00000506000000000000" pitchFamily="2" charset="0"/>
              </a:rPr>
              <a:t> and </a:t>
            </a:r>
            <a:r>
              <a:rPr kumimoji="0" lang="en-US" altLang="en-US" sz="1200" b="1" i="0" u="none" strike="noStrike" cap="none" normalizeH="0" baseline="0" dirty="0">
                <a:ln>
                  <a:noFill/>
                </a:ln>
                <a:solidFill>
                  <a:schemeClr val="tx1"/>
                </a:solidFill>
                <a:effectLst/>
                <a:latin typeface="Barlow Semi Condensed" panose="00000506000000000000" pitchFamily="2" charset="0"/>
              </a:rPr>
              <a:t>inefficient knowledge management</a:t>
            </a:r>
            <a:r>
              <a:rPr kumimoji="0" lang="en-US" altLang="en-US" sz="1200" b="0" i="0" u="none" strike="noStrike" cap="none" normalizeH="0" baseline="0" dirty="0">
                <a:ln>
                  <a:noFill/>
                </a:ln>
                <a:solidFill>
                  <a:schemeClr val="tx1"/>
                </a:solidFill>
                <a:effectLst/>
                <a:latin typeface="Barlow Semi Condensed" panose="00000506000000000000" pitchFamily="2" charset="0"/>
              </a:rPr>
              <a:t>.</a:t>
            </a:r>
            <a:endParaRPr kumimoji="0" lang="en-US" altLang="en-US" sz="1200" b="0" i="0" u="none" strike="noStrike" cap="none" normalizeH="0" baseline="0" dirty="0">
              <a:ln>
                <a:noFill/>
              </a:ln>
              <a:solidFill>
                <a:schemeClr val="tx1"/>
              </a:solidFill>
              <a:effectLst/>
              <a:latin typeface="Barlow Semi Condensed" panose="00000506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2106" name="Google Shape;2106;p37"/>
          <p:cNvGrpSpPr/>
          <p:nvPr/>
        </p:nvGrpSpPr>
        <p:grpSpPr>
          <a:xfrm>
            <a:off x="179044" y="108253"/>
            <a:ext cx="317550" cy="328575"/>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42" name="Google Shape;2142;p37"/>
          <p:cNvSpPr txBox="1">
            <a:spLocks noGrp="1"/>
          </p:cNvSpPr>
          <p:nvPr>
            <p:ph type="subTitle" idx="4294967295"/>
          </p:nvPr>
        </p:nvSpPr>
        <p:spPr>
          <a:xfrm>
            <a:off x="3800996" y="436828"/>
            <a:ext cx="1542007" cy="514620"/>
          </a:xfrm>
          <a:prstGeom prst="rect">
            <a:avLst/>
          </a:prstGeom>
        </p:spPr>
        <p:txBody>
          <a:bodyPr spcFirstLastPara="1" wrap="square" lIns="91425" tIns="91425" rIns="91425" bIns="91425" anchor="t" anchorCtr="0">
            <a:noAutofit/>
          </a:bodyPr>
          <a:lstStyle/>
          <a:p>
            <a:pPr algn="ctr">
              <a:buClr>
                <a:schemeClr val="dk1"/>
              </a:buClr>
              <a:buSzPts val="1100"/>
            </a:pPr>
            <a:r>
              <a:rPr lang="en-US" sz="2400" b="1" u="sng" dirty="0">
                <a:solidFill>
                  <a:schemeClr val="accent6">
                    <a:lumMod val="50000"/>
                  </a:schemeClr>
                </a:solidFill>
                <a:latin typeface="Fjalla One" panose="02000506040000020004" pitchFamily="2" charset="0"/>
              </a:rPr>
              <a:t>Solution</a:t>
            </a:r>
            <a:endParaRPr lang="en-US" sz="2400" b="1" u="sng" dirty="0">
              <a:solidFill>
                <a:schemeClr val="accent6">
                  <a:lumMod val="50000"/>
                </a:schemeClr>
              </a:solidFill>
              <a:latin typeface="Fjalla One" panose="02000506040000020004" pitchFamily="2" charset="0"/>
            </a:endParaRPr>
          </a:p>
          <a:p>
            <a:pPr marL="0" lvl="0" indent="0" algn="l" rtl="0">
              <a:spcBef>
                <a:spcPts val="0"/>
              </a:spcBef>
              <a:spcAft>
                <a:spcPts val="0"/>
              </a:spcAft>
              <a:buClr>
                <a:schemeClr val="dk1"/>
              </a:buClr>
              <a:buSzPts val="1100"/>
              <a:buFont typeface="Arial" panose="020B0604020202020204"/>
              <a:buNone/>
            </a:pPr>
            <a:endParaRPr sz="2400" dirty="0">
              <a:latin typeface="Fjalla One" panose="02000506040000020004" pitchFamily="2" charset="0"/>
            </a:endParaRPr>
          </a:p>
        </p:txBody>
      </p:sp>
      <p:sp>
        <p:nvSpPr>
          <p:cNvPr id="2" name="Subtitle 1"/>
          <p:cNvSpPr>
            <a:spLocks noGrp="1" noChangeArrowheads="1"/>
          </p:cNvSpPr>
          <p:nvPr>
            <p:ph type="subTitle" idx="4294967295"/>
          </p:nvPr>
        </p:nvSpPr>
        <p:spPr bwMode="auto">
          <a:xfrm>
            <a:off x="2328631" y="951448"/>
            <a:ext cx="472531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ct val="200000"/>
              </a:lnSpc>
            </a:pPr>
            <a:r>
              <a:rPr lang="en-US" sz="1200" b="1" dirty="0">
                <a:solidFill>
                  <a:schemeClr val="tx2">
                    <a:lumMod val="25000"/>
                  </a:schemeClr>
                </a:solidFill>
                <a:latin typeface="Barlow Semi Condensed" panose="00000506000000000000" pitchFamily="2" charset="0"/>
              </a:rPr>
              <a:t>End-to-End Intelligent PDF Knowledge Processing Pipeline</a:t>
            </a:r>
            <a:endParaRPr lang="en-US" sz="1200" b="1" dirty="0">
              <a:solidFill>
                <a:schemeClr val="tx2">
                  <a:lumMod val="25000"/>
                </a:schemeClr>
              </a:solidFill>
              <a:latin typeface="Barlow Semi Condensed" panose="00000506000000000000" pitchFamily="2" charset="0"/>
            </a:endParaRP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OCR Integration</a:t>
            </a:r>
            <a:r>
              <a:rPr lang="en-US" sz="1200" dirty="0">
                <a:solidFill>
                  <a:schemeClr val="tx2">
                    <a:lumMod val="25000"/>
                  </a:schemeClr>
                </a:solidFill>
                <a:latin typeface="Barlow Semi Condensed" panose="00000506000000000000" pitchFamily="2" charset="0"/>
              </a:rPr>
              <a:t> for scanned or image-based PDFs</a:t>
            </a:r>
            <a:endParaRPr lang="en-US" sz="1200" dirty="0">
              <a:solidFill>
                <a:schemeClr val="tx2">
                  <a:lumMod val="25000"/>
                </a:schemeClr>
              </a:solidFill>
              <a:latin typeface="Barlow Semi Condensed" panose="00000506000000000000" pitchFamily="2" charset="0"/>
            </a:endParaRP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Meaningful text chunking</a:t>
            </a:r>
            <a:r>
              <a:rPr lang="en-US" sz="1200" dirty="0">
                <a:solidFill>
                  <a:schemeClr val="tx2">
                    <a:lumMod val="25000"/>
                  </a:schemeClr>
                </a:solidFill>
                <a:latin typeface="Barlow Semi Condensed" panose="00000506000000000000" pitchFamily="2" charset="0"/>
              </a:rPr>
              <a:t> for better semantic understanding</a:t>
            </a:r>
            <a:endParaRPr lang="en-US" sz="1200" dirty="0">
              <a:solidFill>
                <a:schemeClr val="tx2">
                  <a:lumMod val="25000"/>
                </a:schemeClr>
              </a:solidFill>
              <a:latin typeface="Barlow Semi Condensed" panose="00000506000000000000" pitchFamily="2" charset="0"/>
            </a:endParaRP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Table extraction</a:t>
            </a:r>
            <a:r>
              <a:rPr lang="en-US" sz="1200" dirty="0">
                <a:solidFill>
                  <a:schemeClr val="tx2">
                    <a:lumMod val="25000"/>
                  </a:schemeClr>
                </a:solidFill>
                <a:latin typeface="Barlow Semi Condensed" panose="00000506000000000000" pitchFamily="2" charset="0"/>
              </a:rPr>
              <a:t> for structured storage and quick access</a:t>
            </a:r>
            <a:endParaRPr lang="en-US" sz="1200" dirty="0">
              <a:solidFill>
                <a:schemeClr val="tx2">
                  <a:lumMod val="25000"/>
                </a:schemeClr>
              </a:solidFill>
              <a:latin typeface="Barlow Semi Condensed" panose="00000506000000000000" pitchFamily="2" charset="0"/>
            </a:endParaRP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Vector embeddings stored in Pinecone</a:t>
            </a:r>
            <a:r>
              <a:rPr lang="en-US" sz="1200" dirty="0">
                <a:solidFill>
                  <a:schemeClr val="tx2">
                    <a:lumMod val="25000"/>
                  </a:schemeClr>
                </a:solidFill>
                <a:latin typeface="Barlow Semi Condensed" panose="00000506000000000000" pitchFamily="2" charset="0"/>
              </a:rPr>
              <a:t> for fast semantic retrieval</a:t>
            </a:r>
            <a:endParaRPr lang="en-US" sz="1200" dirty="0">
              <a:solidFill>
                <a:schemeClr val="tx2">
                  <a:lumMod val="25000"/>
                </a:schemeClr>
              </a:solidFill>
              <a:latin typeface="Barlow Semi Condensed" panose="00000506000000000000" pitchFamily="2" charset="0"/>
            </a:endParaRPr>
          </a:p>
          <a:p>
            <a:pPr marL="171450" indent="-171450">
              <a:lnSpc>
                <a:spcPct val="200000"/>
              </a:lnSpc>
              <a:buFont typeface="Arial" panose="020B0604020202020204" pitchFamily="34" charset="0"/>
              <a:buChar char="•"/>
            </a:pPr>
            <a:r>
              <a:rPr lang="en-US" sz="1200" b="1" dirty="0">
                <a:solidFill>
                  <a:schemeClr val="tx2">
                    <a:lumMod val="25000"/>
                  </a:schemeClr>
                </a:solidFill>
                <a:latin typeface="Barlow Semi Condensed" panose="00000506000000000000" pitchFamily="2" charset="0"/>
              </a:rPr>
              <a:t>RAG-based retrieval</a:t>
            </a:r>
            <a:r>
              <a:rPr lang="en-US" sz="1200" dirty="0">
                <a:solidFill>
                  <a:schemeClr val="tx2">
                    <a:lumMod val="25000"/>
                  </a:schemeClr>
                </a:solidFill>
                <a:latin typeface="Barlow Semi Condensed" panose="00000506000000000000" pitchFamily="2" charset="0"/>
              </a:rPr>
              <a:t> for accurate, context-aware responses</a:t>
            </a:r>
            <a:endParaRPr lang="en-US" sz="1200" dirty="0">
              <a:solidFill>
                <a:schemeClr val="tx2">
                  <a:lumMod val="25000"/>
                </a:schemeClr>
              </a:solidFill>
              <a:latin typeface="Barlow Semi Condensed" panose="00000506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6818863" y="64138"/>
            <a:ext cx="1454879" cy="128619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177" name="Google Shape;2177;p39"/>
          <p:cNvSpPr txBox="1">
            <a:spLocks noGrp="1"/>
          </p:cNvSpPr>
          <p:nvPr>
            <p:ph type="title"/>
          </p:nvPr>
        </p:nvSpPr>
        <p:spPr>
          <a:xfrm>
            <a:off x="3895956" y="453156"/>
            <a:ext cx="1352088" cy="519200"/>
          </a:xfrm>
          <a:prstGeom prst="rect">
            <a:avLst/>
          </a:prstGeom>
        </p:spPr>
        <p:txBody>
          <a:bodyPr spcFirstLastPara="1" wrap="square" lIns="91425" tIns="91425" rIns="91425" bIns="91425" anchor="t" anchorCtr="0">
            <a:noAutofit/>
          </a:bodyPr>
          <a:lstStyle/>
          <a:p>
            <a:pPr lvl="0"/>
            <a:r>
              <a:rPr lang="en-US" sz="2400" b="1" u="sng" dirty="0">
                <a:latin typeface="Fjalla One" panose="02000506040000020004" pitchFamily="2" charset="0"/>
              </a:rPr>
              <a:t>RAG</a:t>
            </a:r>
            <a:endParaRPr sz="2400" b="1" u="sng" dirty="0">
              <a:latin typeface="Fjalla One" panose="02000506040000020004" pitchFamily="2" charset="0"/>
            </a:endParaRPr>
          </a:p>
        </p:txBody>
      </p:sp>
      <p:sp>
        <p:nvSpPr>
          <p:cNvPr id="4" name="TextBox 3"/>
          <p:cNvSpPr txBox="1"/>
          <p:nvPr/>
        </p:nvSpPr>
        <p:spPr>
          <a:xfrm>
            <a:off x="1531088" y="1021325"/>
            <a:ext cx="6548202" cy="3100849"/>
          </a:xfrm>
          <a:prstGeom prst="rect">
            <a:avLst/>
          </a:prstGeom>
          <a:noFill/>
        </p:spPr>
        <p:txBody>
          <a:bodyPr wrap="square" rtlCol="0">
            <a:spAutoFit/>
          </a:bodyPr>
          <a:lstStyle/>
          <a:p>
            <a:pPr marL="228600" indent="-228600">
              <a:lnSpc>
                <a:spcPct val="150000"/>
              </a:lnSpc>
              <a:buAutoNum type="arabicPeriod"/>
            </a:pPr>
            <a:r>
              <a:rPr lang="en-US" sz="1200" b="1" dirty="0">
                <a:latin typeface="Barlow Semi Condensed" panose="00000506000000000000" pitchFamily="2" charset="0"/>
              </a:rPr>
              <a:t>Document Collection </a:t>
            </a:r>
            <a:r>
              <a:rPr lang="en-US" sz="1200" dirty="0">
                <a:latin typeface="Barlow Semi Condensed" panose="00000506000000000000" pitchFamily="2" charset="0"/>
              </a:rPr>
              <a:t>– Gather your documents or text sources.</a:t>
            </a:r>
            <a:endParaRPr lang="en-US" sz="1200" dirty="0">
              <a:latin typeface="Barlow Semi Condensed" panose="00000506000000000000" pitchFamily="2" charset="0"/>
            </a:endParaRPr>
          </a:p>
          <a:p>
            <a:pPr marL="228600" indent="-228600">
              <a:lnSpc>
                <a:spcPct val="150000"/>
              </a:lnSpc>
              <a:buAutoNum type="arabicPeriod"/>
            </a:pPr>
            <a:r>
              <a:rPr lang="en-US" sz="1200" b="1" dirty="0">
                <a:latin typeface="Barlow Semi Condensed" panose="00000506000000000000" pitchFamily="2" charset="0"/>
              </a:rPr>
              <a:t>Chunking – </a:t>
            </a:r>
            <a:r>
              <a:rPr lang="en-US" sz="1200" dirty="0">
                <a:latin typeface="Barlow Semi Condensed" panose="00000506000000000000" pitchFamily="2" charset="0"/>
              </a:rPr>
              <a:t>Split the documents into smaller pieces (chunks), usually sentences or paragraphs. (One chunk = many tokens.)</a:t>
            </a:r>
            <a:endParaRPr lang="en-US" sz="1200" dirty="0">
              <a:latin typeface="Barlow Semi Condensed" panose="00000506000000000000" pitchFamily="2" charset="0"/>
            </a:endParaRPr>
          </a:p>
          <a:p>
            <a:pPr marL="228600" indent="-228600">
              <a:lnSpc>
                <a:spcPct val="150000"/>
              </a:lnSpc>
              <a:buAutoNum type="arabicPeriod"/>
            </a:pPr>
            <a:r>
              <a:rPr lang="en-US" sz="1200" b="1" dirty="0">
                <a:latin typeface="Barlow Semi Condensed" panose="00000506000000000000" pitchFamily="2" charset="0"/>
              </a:rPr>
              <a:t>Embedding – </a:t>
            </a:r>
            <a:r>
              <a:rPr lang="en-US" sz="1200" dirty="0">
                <a:latin typeface="Barlow Semi Condensed" panose="00000506000000000000" pitchFamily="2" charset="0"/>
              </a:rPr>
              <a:t>Convert each chunk into a vector of numbers that represents its meaning.</a:t>
            </a:r>
            <a:endParaRPr lang="en-US" sz="1200" dirty="0">
              <a:latin typeface="Barlow Semi Condensed" panose="00000506000000000000" pitchFamily="2" charset="0"/>
            </a:endParaRPr>
          </a:p>
          <a:p>
            <a:pPr marL="228600" indent="-228600">
              <a:lnSpc>
                <a:spcPct val="150000"/>
              </a:lnSpc>
              <a:buAutoNum type="arabicPeriod"/>
            </a:pPr>
            <a:r>
              <a:rPr lang="en-US" sz="1200" b="1" dirty="0">
                <a:latin typeface="Barlow Semi Condensed" panose="00000506000000000000" pitchFamily="2" charset="0"/>
              </a:rPr>
              <a:t>Vector Store – </a:t>
            </a:r>
            <a:r>
              <a:rPr lang="en-US" sz="1200" dirty="0">
                <a:latin typeface="Barlow Semi Condensed" panose="00000506000000000000" pitchFamily="2" charset="0"/>
              </a:rPr>
              <a:t>Store all these embeddings in a database (FAISS, Chroma, Pinecone, etc.) for fast similarity search.</a:t>
            </a:r>
            <a:endParaRPr lang="en-US" sz="1200" dirty="0">
              <a:latin typeface="Barlow Semi Condensed" panose="00000506000000000000" pitchFamily="2" charset="0"/>
            </a:endParaRPr>
          </a:p>
          <a:p>
            <a:pPr marL="228600" indent="-228600">
              <a:lnSpc>
                <a:spcPct val="150000"/>
              </a:lnSpc>
              <a:buAutoNum type="arabicPeriod"/>
            </a:pPr>
            <a:r>
              <a:rPr lang="en-US" sz="1200" b="1" dirty="0">
                <a:latin typeface="Barlow Semi Condensed" panose="00000506000000000000" pitchFamily="2" charset="0"/>
              </a:rPr>
              <a:t>Retrieve – </a:t>
            </a:r>
            <a:r>
              <a:rPr lang="en-US" sz="1200" dirty="0">
                <a:latin typeface="Barlow Semi Condensed" panose="00000506000000000000" pitchFamily="2" charset="0"/>
              </a:rPr>
              <a:t>Convert the user query into an embedding, then find the chunk(s) whose embeddings are closest (e.g., using cosine similarity or Euclidean distance).</a:t>
            </a:r>
            <a:endParaRPr lang="en-US" sz="1200" dirty="0">
              <a:latin typeface="Barlow Semi Condensed" panose="00000506000000000000" pitchFamily="2" charset="0"/>
            </a:endParaRPr>
          </a:p>
          <a:p>
            <a:pPr marL="228600" indent="-228600">
              <a:lnSpc>
                <a:spcPct val="150000"/>
              </a:lnSpc>
              <a:buAutoNum type="arabicPeriod"/>
            </a:pPr>
            <a:r>
              <a:rPr lang="en-US" sz="1200" b="1" dirty="0">
                <a:latin typeface="Barlow Semi Condensed" panose="00000506000000000000" pitchFamily="2" charset="0"/>
              </a:rPr>
              <a:t>Combine &amp; Query LLM – </a:t>
            </a:r>
            <a:r>
              <a:rPr lang="en-US" sz="1200" dirty="0">
                <a:latin typeface="Barlow Semi Condensed" panose="00000506000000000000" pitchFamily="2" charset="0"/>
              </a:rPr>
              <a:t>Feed the query along with the retrieved chunks into an LLM, which generates the final answer.</a:t>
            </a:r>
            <a:br>
              <a:rPr lang="en-US" sz="1200" dirty="0">
                <a:solidFill>
                  <a:schemeClr val="accent6">
                    <a:lumMod val="50000"/>
                  </a:schemeClr>
                </a:solidFill>
                <a:latin typeface="Barlow Semi Condensed" panose="00000506000000000000" pitchFamily="2" charset="0"/>
              </a:rPr>
            </a:br>
            <a:endParaRPr lang="en-US" sz="1200" dirty="0">
              <a:solidFill>
                <a:schemeClr val="accent6">
                  <a:lumMod val="50000"/>
                </a:schemeClr>
              </a:solidFill>
              <a:latin typeface="Barlow Semi Condensed" panose="00000506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2177;p39"/>
          <p:cNvSpPr txBox="1">
            <a:spLocks noGrp="1"/>
          </p:cNvSpPr>
          <p:nvPr>
            <p:ph type="title"/>
          </p:nvPr>
        </p:nvSpPr>
        <p:spPr>
          <a:xfrm>
            <a:off x="3293772" y="441862"/>
            <a:ext cx="2556455" cy="610761"/>
          </a:xfrm>
          <a:prstGeom prst="rect">
            <a:avLst/>
          </a:prstGeom>
        </p:spPr>
        <p:txBody>
          <a:bodyPr spcFirstLastPara="1" wrap="square" lIns="91425" tIns="91425" rIns="91425" bIns="91425" anchor="t" anchorCtr="0">
            <a:noAutofit/>
          </a:bodyPr>
          <a:lstStyle/>
          <a:p>
            <a:pPr lvl="0"/>
            <a:r>
              <a:rPr lang="en-US" sz="2400" b="1" u="sng" dirty="0"/>
              <a:t>Workflow Diagram </a:t>
            </a:r>
            <a:endParaRPr sz="2400" b="1" u="sng" dirty="0"/>
          </a:p>
        </p:txBody>
      </p:sp>
      <p:pic>
        <p:nvPicPr>
          <p:cNvPr id="4" name="Picture 3"/>
          <p:cNvPicPr>
            <a:picLocks noChangeAspect="1"/>
          </p:cNvPicPr>
          <p:nvPr/>
        </p:nvPicPr>
        <p:blipFill>
          <a:blip r:embed="rId1"/>
          <a:srcRect b="14555"/>
          <a:stretch>
            <a:fillRect/>
          </a:stretch>
        </p:blipFill>
        <p:spPr>
          <a:xfrm>
            <a:off x="1313543" y="1080576"/>
            <a:ext cx="6516914" cy="29823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6818863" y="64138"/>
            <a:ext cx="1454879" cy="1286197"/>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4"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177" name="Google Shape;2177;p39"/>
          <p:cNvSpPr txBox="1">
            <a:spLocks noGrp="1"/>
          </p:cNvSpPr>
          <p:nvPr>
            <p:ph type="title"/>
          </p:nvPr>
        </p:nvSpPr>
        <p:spPr>
          <a:xfrm>
            <a:off x="3321511" y="447482"/>
            <a:ext cx="2500977" cy="519200"/>
          </a:xfrm>
          <a:prstGeom prst="rect">
            <a:avLst/>
          </a:prstGeom>
        </p:spPr>
        <p:txBody>
          <a:bodyPr spcFirstLastPara="1" wrap="square" lIns="91425" tIns="91425" rIns="91425" bIns="91425" anchor="t" anchorCtr="0">
            <a:noAutofit/>
          </a:bodyPr>
          <a:lstStyle/>
          <a:p>
            <a:pPr lvl="0"/>
            <a:r>
              <a:rPr lang="en-US" sz="2400" b="1" u="sng" dirty="0">
                <a:latin typeface="Fjalla One" panose="02000506040000020004" pitchFamily="2" charset="0"/>
              </a:rPr>
              <a:t>Methodology</a:t>
            </a:r>
            <a:endParaRPr sz="2400" b="1" u="sng" dirty="0">
              <a:latin typeface="Fjalla One" panose="02000506040000020004" pitchFamily="2" charset="0"/>
            </a:endParaRPr>
          </a:p>
        </p:txBody>
      </p:sp>
      <p:sp>
        <p:nvSpPr>
          <p:cNvPr id="4" name="TextBox 3"/>
          <p:cNvSpPr txBox="1"/>
          <p:nvPr/>
        </p:nvSpPr>
        <p:spPr>
          <a:xfrm>
            <a:off x="1531088" y="1089358"/>
            <a:ext cx="6548202" cy="3600986"/>
          </a:xfrm>
          <a:prstGeom prst="rect">
            <a:avLst/>
          </a:prstGeom>
          <a:noFill/>
        </p:spPr>
        <p:txBody>
          <a:bodyPr wrap="square" rtlCol="0">
            <a:spAutoFit/>
          </a:bodyPr>
          <a:lstStyle/>
          <a:p>
            <a:r>
              <a:rPr lang="en-US" sz="1200" b="1" dirty="0">
                <a:latin typeface="Barlow Semi Condensed" panose="00000506000000000000" pitchFamily="2" charset="0"/>
              </a:rPr>
              <a:t>A. Initialization</a:t>
            </a:r>
            <a:br>
              <a:rPr lang="en-US" sz="1200" dirty="0">
                <a:latin typeface="Barlow Semi Condensed" panose="00000506000000000000" pitchFamily="2" charset="0"/>
              </a:rPr>
            </a:br>
            <a:r>
              <a:rPr lang="en-US" sz="1200" dirty="0">
                <a:latin typeface="Barlow Semi Condensed" panose="00000506000000000000" pitchFamily="2" charset="0"/>
              </a:rPr>
              <a:t>Loads secure configuration variables (API keys, DB credentials) and connects all core components like the vector DB, embedding model, and LLM.</a:t>
            </a:r>
            <a:endParaRPr lang="en-US" sz="1200" dirty="0">
              <a:latin typeface="Barlow Semi Condensed" panose="00000506000000000000" pitchFamily="2" charset="0"/>
            </a:endParaRPr>
          </a:p>
          <a:p>
            <a:r>
              <a:rPr lang="en-US" sz="1200" b="1" dirty="0">
                <a:latin typeface="Barlow Semi Condensed" panose="00000506000000000000" pitchFamily="2" charset="0"/>
              </a:rPr>
              <a:t>B. Authentication</a:t>
            </a:r>
            <a:br>
              <a:rPr lang="en-US" sz="1200" dirty="0">
                <a:latin typeface="Barlow Semi Condensed" panose="00000506000000000000" pitchFamily="2" charset="0"/>
              </a:rPr>
            </a:br>
            <a:r>
              <a:rPr lang="en-US" sz="1200" dirty="0">
                <a:latin typeface="Barlow Semi Condensed" panose="00000506000000000000" pitchFamily="2" charset="0"/>
              </a:rPr>
              <a:t>Handles secure user login with hashed passwords and token-based access control to maintain privacy and auditability.</a:t>
            </a:r>
            <a:endParaRPr lang="en-US" sz="1200" dirty="0">
              <a:latin typeface="Barlow Semi Condensed" panose="00000506000000000000" pitchFamily="2" charset="0"/>
            </a:endParaRPr>
          </a:p>
          <a:p>
            <a:r>
              <a:rPr lang="en-US" sz="1200" b="1" dirty="0">
                <a:latin typeface="Barlow Semi Condensed" panose="00000506000000000000" pitchFamily="2" charset="0"/>
              </a:rPr>
              <a:t>C. Document Processing</a:t>
            </a:r>
            <a:br>
              <a:rPr lang="en-US" sz="1200" dirty="0">
                <a:latin typeface="Barlow Semi Condensed" panose="00000506000000000000" pitchFamily="2" charset="0"/>
              </a:rPr>
            </a:br>
            <a:r>
              <a:rPr lang="en-US" sz="1200" dirty="0">
                <a:latin typeface="Barlow Semi Condensed" panose="00000506000000000000" pitchFamily="2" charset="0"/>
              </a:rPr>
              <a:t>Extracts text/images from PDFs, applies OCR when needed, creates meaningful chunks, generates embeddings, and stores them with metadata in a vector database for semantic search.</a:t>
            </a:r>
            <a:endParaRPr lang="en-US" sz="1200" dirty="0">
              <a:latin typeface="Barlow Semi Condensed" panose="00000506000000000000" pitchFamily="2" charset="0"/>
            </a:endParaRPr>
          </a:p>
          <a:p>
            <a:r>
              <a:rPr lang="en-US" sz="1200" b="1" dirty="0">
                <a:latin typeface="Barlow Semi Condensed" panose="00000506000000000000" pitchFamily="2" charset="0"/>
              </a:rPr>
              <a:t>D. Semantic Retrieval (RAG)</a:t>
            </a:r>
            <a:br>
              <a:rPr lang="en-US" sz="1200" dirty="0">
                <a:latin typeface="Barlow Semi Condensed" panose="00000506000000000000" pitchFamily="2" charset="0"/>
              </a:rPr>
            </a:br>
            <a:r>
              <a:rPr lang="en-US" sz="1200" dirty="0">
                <a:latin typeface="Barlow Semi Condensed" panose="00000506000000000000" pitchFamily="2" charset="0"/>
              </a:rPr>
              <a:t>User queries are embedded and matched with relevant chunks. Retrieved context is sent to the LLM so responses are grounded in the organization's documents.</a:t>
            </a:r>
            <a:endParaRPr lang="en-US" sz="1200" dirty="0">
              <a:latin typeface="Barlow Semi Condensed" panose="00000506000000000000" pitchFamily="2" charset="0"/>
            </a:endParaRPr>
          </a:p>
          <a:p>
            <a:r>
              <a:rPr lang="en-US" sz="1200" b="1" dirty="0">
                <a:latin typeface="Barlow Semi Condensed" panose="00000506000000000000" pitchFamily="2" charset="0"/>
              </a:rPr>
              <a:t>E. Response Delivery</a:t>
            </a:r>
            <a:br>
              <a:rPr lang="en-US" sz="1200" dirty="0">
                <a:latin typeface="Barlow Semi Condensed" panose="00000506000000000000" pitchFamily="2" charset="0"/>
              </a:rPr>
            </a:br>
            <a:r>
              <a:rPr lang="en-US" sz="1200" dirty="0">
                <a:latin typeface="Barlow Semi Condensed" panose="00000506000000000000" pitchFamily="2" charset="0"/>
              </a:rPr>
              <a:t>The system returns the final answer along with source references for transparency and traceability.</a:t>
            </a:r>
            <a:endParaRPr lang="en-US" sz="1200" dirty="0">
              <a:latin typeface="Barlow Semi Condensed" panose="00000506000000000000" pitchFamily="2" charset="0"/>
            </a:endParaRPr>
          </a:p>
          <a:p>
            <a:r>
              <a:rPr lang="en-US" sz="1200" b="1" dirty="0">
                <a:latin typeface="Barlow Semi Condensed" panose="00000506000000000000" pitchFamily="2" charset="0"/>
              </a:rPr>
              <a:t>F. Project Status</a:t>
            </a:r>
            <a:br>
              <a:rPr lang="en-US" sz="1200" dirty="0">
                <a:latin typeface="Barlow Semi Condensed" panose="00000506000000000000" pitchFamily="2" charset="0"/>
              </a:rPr>
            </a:br>
            <a:r>
              <a:rPr lang="en-US" sz="1200" dirty="0">
                <a:latin typeface="Barlow Semi Condensed" panose="00000506000000000000" pitchFamily="2" charset="0"/>
              </a:rPr>
              <a:t>Core RAG pipeline is completed. Ongoing work includes UI development, broader dataset testing, OCR improvements, and performance optimization.</a:t>
            </a:r>
            <a:endParaRPr lang="en-US" sz="1200" dirty="0">
              <a:latin typeface="Barlow Semi Condensed" panose="00000506000000000000" pitchFamily="2" charset="0"/>
            </a:endParaRPr>
          </a:p>
          <a:p>
            <a:br>
              <a:rPr lang="en-US" sz="1200" dirty="0">
                <a:solidFill>
                  <a:schemeClr val="accent6">
                    <a:lumMod val="50000"/>
                  </a:schemeClr>
                </a:solidFill>
                <a:latin typeface="Barlow Semi Condensed" panose="00000506000000000000" pitchFamily="2" charset="0"/>
              </a:rPr>
            </a:br>
            <a:endParaRPr lang="en-US" sz="1200" dirty="0">
              <a:solidFill>
                <a:schemeClr val="accent6">
                  <a:lumMod val="50000"/>
                </a:schemeClr>
              </a:solidFill>
              <a:latin typeface="Barlow Semi Condensed" panose="00000506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Google Shape;2177;p39"/>
          <p:cNvSpPr txBox="1">
            <a:spLocks noGrp="1"/>
          </p:cNvSpPr>
          <p:nvPr>
            <p:ph type="title"/>
          </p:nvPr>
        </p:nvSpPr>
        <p:spPr>
          <a:xfrm>
            <a:off x="3693312" y="485249"/>
            <a:ext cx="1414463" cy="569512"/>
          </a:xfrm>
          <a:prstGeom prst="rect">
            <a:avLst/>
          </a:prstGeom>
        </p:spPr>
        <p:txBody>
          <a:bodyPr spcFirstLastPara="1" wrap="square" lIns="91425" tIns="91425" rIns="91425" bIns="91425" anchor="t" anchorCtr="0">
            <a:noAutofit/>
          </a:bodyPr>
          <a:lstStyle/>
          <a:p>
            <a:r>
              <a:rPr lang="en-US" sz="2400" b="1" u="sng" dirty="0"/>
              <a:t>Results</a:t>
            </a:r>
            <a:br>
              <a:rPr lang="en-US" sz="3200" dirty="0"/>
            </a:br>
            <a:endParaRPr sz="3200" dirty="0"/>
          </a:p>
        </p:txBody>
      </p:sp>
      <p:sp>
        <p:nvSpPr>
          <p:cNvPr id="2" name="Rectangle 1"/>
          <p:cNvSpPr/>
          <p:nvPr/>
        </p:nvSpPr>
        <p:spPr>
          <a:xfrm>
            <a:off x="1458685" y="1054761"/>
            <a:ext cx="6226629" cy="206581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just">
              <a:lnSpc>
                <a:spcPct val="150000"/>
              </a:lnSpc>
            </a:pPr>
            <a:r>
              <a:rPr lang="en-US" sz="1200" dirty="0">
                <a:latin typeface="Barlow Semi Condensed" panose="00000506000000000000" pitchFamily="2" charset="0"/>
              </a:rPr>
              <a:t>The system has been partially implemented and tested, focusing on text extraction, embedding generation, vector storage, and semantic retrieval. The backend RAG workflow works correctly, with accurate context retrieval, grounded LLM responses, and stable API performance. A basic Streamlit interface allows PDF uploads and query testing, successfully displaying answers with relevant context. While the core pipeline functions well, image and table extraction, detailed performance benchmarking, and the final production UI are still under development.</a:t>
            </a:r>
            <a:endParaRPr lang="en-US" sz="1200" dirty="0">
              <a:latin typeface="Barlow Semi Condensed" panose="00000506000000000000"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Google Shape;2177;p39"/>
          <p:cNvSpPr txBox="1">
            <a:spLocks noGrp="1"/>
          </p:cNvSpPr>
          <p:nvPr>
            <p:ph type="title"/>
          </p:nvPr>
        </p:nvSpPr>
        <p:spPr>
          <a:xfrm>
            <a:off x="3693312" y="485249"/>
            <a:ext cx="1414463" cy="569512"/>
          </a:xfrm>
          <a:prstGeom prst="rect">
            <a:avLst/>
          </a:prstGeom>
        </p:spPr>
        <p:txBody>
          <a:bodyPr spcFirstLastPara="1" wrap="square" lIns="91425" tIns="91425" rIns="91425" bIns="91425" anchor="t" anchorCtr="0">
            <a:noAutofit/>
          </a:bodyPr>
          <a:lstStyle/>
          <a:p>
            <a:r>
              <a:rPr lang="en-US" sz="2400" b="1" u="sng" dirty="0"/>
              <a:t>Results</a:t>
            </a:r>
            <a:br>
              <a:rPr lang="en-US" sz="3200" dirty="0"/>
            </a:br>
            <a:endParaRPr sz="3200" dirty="0"/>
          </a:p>
        </p:txBody>
      </p:sp>
      <p:sp>
        <p:nvSpPr>
          <p:cNvPr id="4" name="Rectangle 3"/>
          <p:cNvSpPr/>
          <p:nvPr/>
        </p:nvSpPr>
        <p:spPr>
          <a:xfrm>
            <a:off x="3448049" y="3887107"/>
            <a:ext cx="2190750" cy="38598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latin typeface="Barlow Semi Condensed" panose="00000506000000000000" pitchFamily="2" charset="0"/>
              </a:rPr>
              <a:t>Website Login</a:t>
            </a:r>
            <a:endParaRPr lang="en-US" sz="1200" u="sng" dirty="0">
              <a:latin typeface="Barlow Semi Condensed" panose="00000506000000000000" pitchFamily="2" charset="0"/>
            </a:endParaRPr>
          </a:p>
        </p:txBody>
      </p:sp>
      <p:pic>
        <p:nvPicPr>
          <p:cNvPr id="3" name="Picture 2"/>
          <p:cNvPicPr>
            <a:picLocks noChangeAspect="1"/>
          </p:cNvPicPr>
          <p:nvPr/>
        </p:nvPicPr>
        <p:blipFill>
          <a:blip r:embed="rId1"/>
          <a:srcRect/>
          <a:stretch>
            <a:fillRect/>
          </a:stretch>
        </p:blipFill>
        <p:spPr>
          <a:xfrm>
            <a:off x="3426793" y="1186903"/>
            <a:ext cx="2233263" cy="27088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Google Shape;2177;p39"/>
          <p:cNvSpPr txBox="1">
            <a:spLocks noGrp="1"/>
          </p:cNvSpPr>
          <p:nvPr>
            <p:ph type="title"/>
          </p:nvPr>
        </p:nvSpPr>
        <p:spPr>
          <a:xfrm>
            <a:off x="3693312" y="485249"/>
            <a:ext cx="1414463" cy="569512"/>
          </a:xfrm>
          <a:prstGeom prst="rect">
            <a:avLst/>
          </a:prstGeom>
        </p:spPr>
        <p:txBody>
          <a:bodyPr spcFirstLastPara="1" wrap="square" lIns="91425" tIns="91425" rIns="91425" bIns="91425" anchor="t" anchorCtr="0">
            <a:noAutofit/>
          </a:bodyPr>
          <a:lstStyle/>
          <a:p>
            <a:r>
              <a:rPr lang="en-US" sz="2400" b="1" u="sng" dirty="0"/>
              <a:t>Results</a:t>
            </a:r>
            <a:br>
              <a:rPr lang="en-US" sz="3200" dirty="0"/>
            </a:br>
            <a:endParaRPr sz="3200" dirty="0"/>
          </a:p>
        </p:txBody>
      </p:sp>
      <p:sp>
        <p:nvSpPr>
          <p:cNvPr id="4" name="Rectangle 3"/>
          <p:cNvSpPr/>
          <p:nvPr/>
        </p:nvSpPr>
        <p:spPr>
          <a:xfrm>
            <a:off x="3448049" y="3887107"/>
            <a:ext cx="2190750" cy="38598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latin typeface="Barlow Semi Condensed" panose="00000506000000000000" pitchFamily="2" charset="0"/>
              </a:rPr>
              <a:t>Multilingual Chatbot’s Reply</a:t>
            </a:r>
            <a:endParaRPr lang="en-US" sz="1200" u="sng" dirty="0">
              <a:latin typeface="Barlow Semi Condensed" panose="00000506000000000000" pitchFamily="2" charset="0"/>
            </a:endParaRPr>
          </a:p>
        </p:txBody>
      </p:sp>
      <p:pic>
        <p:nvPicPr>
          <p:cNvPr id="3" name="Picture 2"/>
          <p:cNvPicPr>
            <a:picLocks noChangeAspect="1"/>
          </p:cNvPicPr>
          <p:nvPr/>
        </p:nvPicPr>
        <p:blipFill>
          <a:blip r:embed="rId1"/>
          <a:srcRect/>
          <a:stretch>
            <a:fillRect/>
          </a:stretch>
        </p:blipFill>
        <p:spPr>
          <a:xfrm>
            <a:off x="1697260" y="1186903"/>
            <a:ext cx="5692329" cy="270882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Google Shape;2177;p39"/>
          <p:cNvSpPr txBox="1">
            <a:spLocks noGrp="1"/>
          </p:cNvSpPr>
          <p:nvPr>
            <p:ph type="title"/>
          </p:nvPr>
        </p:nvSpPr>
        <p:spPr>
          <a:xfrm>
            <a:off x="3693312" y="485249"/>
            <a:ext cx="1414463" cy="569512"/>
          </a:xfrm>
          <a:prstGeom prst="rect">
            <a:avLst/>
          </a:prstGeom>
        </p:spPr>
        <p:txBody>
          <a:bodyPr spcFirstLastPara="1" wrap="square" lIns="91425" tIns="91425" rIns="91425" bIns="91425" anchor="t" anchorCtr="0">
            <a:noAutofit/>
          </a:bodyPr>
          <a:lstStyle/>
          <a:p>
            <a:r>
              <a:rPr lang="en-US" sz="2400" b="1" u="sng" dirty="0"/>
              <a:t>Results</a:t>
            </a:r>
            <a:br>
              <a:rPr lang="en-US" sz="3200" dirty="0"/>
            </a:br>
            <a:endParaRPr sz="3200" dirty="0"/>
          </a:p>
        </p:txBody>
      </p:sp>
      <p:sp>
        <p:nvSpPr>
          <p:cNvPr id="4" name="Rectangle 3"/>
          <p:cNvSpPr/>
          <p:nvPr/>
        </p:nvSpPr>
        <p:spPr>
          <a:xfrm>
            <a:off x="3448049" y="3887107"/>
            <a:ext cx="2190750" cy="38598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latin typeface="Barlow Semi Condensed" panose="00000506000000000000" pitchFamily="2" charset="0"/>
              </a:rPr>
              <a:t>Structured Tabular Output </a:t>
            </a:r>
            <a:endParaRPr lang="en-US" sz="1200" u="sng" dirty="0">
              <a:latin typeface="Barlow Semi Condensed" panose="00000506000000000000" pitchFamily="2" charset="0"/>
            </a:endParaRPr>
          </a:p>
        </p:txBody>
      </p:sp>
      <p:pic>
        <p:nvPicPr>
          <p:cNvPr id="3" name="Picture 2"/>
          <p:cNvPicPr>
            <a:picLocks noChangeAspect="1"/>
          </p:cNvPicPr>
          <p:nvPr/>
        </p:nvPicPr>
        <p:blipFill>
          <a:blip r:embed="rId1"/>
          <a:srcRect/>
          <a:stretch>
            <a:fillRect/>
          </a:stretch>
        </p:blipFill>
        <p:spPr>
          <a:xfrm>
            <a:off x="1697260" y="1279850"/>
            <a:ext cx="5692329" cy="25229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Google Shape;2177;p39"/>
          <p:cNvSpPr txBox="1">
            <a:spLocks noGrp="1"/>
          </p:cNvSpPr>
          <p:nvPr>
            <p:ph type="title"/>
          </p:nvPr>
        </p:nvSpPr>
        <p:spPr>
          <a:xfrm>
            <a:off x="3693312" y="485249"/>
            <a:ext cx="1414463" cy="569512"/>
          </a:xfrm>
          <a:prstGeom prst="rect">
            <a:avLst/>
          </a:prstGeom>
        </p:spPr>
        <p:txBody>
          <a:bodyPr spcFirstLastPara="1" wrap="square" lIns="91425" tIns="91425" rIns="91425" bIns="91425" anchor="t" anchorCtr="0">
            <a:noAutofit/>
          </a:bodyPr>
          <a:lstStyle/>
          <a:p>
            <a:r>
              <a:rPr lang="en-US" sz="2400" b="1" u="sng" dirty="0"/>
              <a:t>Results</a:t>
            </a:r>
            <a:br>
              <a:rPr lang="en-US" sz="3200" dirty="0"/>
            </a:br>
            <a:endParaRPr sz="3200" dirty="0"/>
          </a:p>
        </p:txBody>
      </p:sp>
      <p:sp>
        <p:nvSpPr>
          <p:cNvPr id="4" name="Rectangle 3"/>
          <p:cNvSpPr/>
          <p:nvPr/>
        </p:nvSpPr>
        <p:spPr>
          <a:xfrm>
            <a:off x="3448049" y="3887107"/>
            <a:ext cx="2190750" cy="38598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1200" dirty="0">
                <a:latin typeface="Barlow Semi Condensed" panose="00000506000000000000" pitchFamily="2" charset="0"/>
              </a:rPr>
              <a:t>Structured Tabular Output </a:t>
            </a:r>
            <a:endParaRPr lang="en-US" sz="1200" u="sng" dirty="0">
              <a:latin typeface="Barlow Semi Condensed" panose="00000506000000000000" pitchFamily="2" charset="0"/>
            </a:endParaRPr>
          </a:p>
        </p:txBody>
      </p:sp>
      <p:pic>
        <p:nvPicPr>
          <p:cNvPr id="2" name="Picture 1" descr="ChatGPT Image Jan 4, 2026, 08_03_53 PM"/>
          <p:cNvPicPr>
            <a:picLocks noChangeAspect="1"/>
          </p:cNvPicPr>
          <p:nvPr/>
        </p:nvPicPr>
        <p:blipFill>
          <a:blip r:embed="rId1"/>
          <a:srcRect t="16855" b="22679"/>
          <a:stretch>
            <a:fillRect/>
          </a:stretch>
        </p:blipFill>
        <p:spPr>
          <a:xfrm>
            <a:off x="1723390" y="966470"/>
            <a:ext cx="5680710" cy="40817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oogle Shape;2162;p39"/>
          <p:cNvGrpSpPr/>
          <p:nvPr/>
        </p:nvGrpSpPr>
        <p:grpSpPr>
          <a:xfrm>
            <a:off x="6818863" y="64138"/>
            <a:ext cx="1454879" cy="1286197"/>
            <a:chOff x="3614228" y="234880"/>
            <a:chExt cx="1915500" cy="1915500"/>
          </a:xfrm>
        </p:grpSpPr>
        <p:sp>
          <p:nvSpPr>
            <p:cNvPr id="5"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 name="Google Shape;2164;p39"/>
            <p:cNvSpPr/>
            <p:nvPr/>
          </p:nvSpPr>
          <p:spPr>
            <a:xfrm>
              <a:off x="3869711" y="490401"/>
              <a:ext cx="1404000" cy="1404000"/>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9" name="Google Shape;2177;p39"/>
          <p:cNvSpPr txBox="1">
            <a:spLocks noGrp="1"/>
          </p:cNvSpPr>
          <p:nvPr>
            <p:ph type="title"/>
          </p:nvPr>
        </p:nvSpPr>
        <p:spPr>
          <a:xfrm>
            <a:off x="3597442" y="608941"/>
            <a:ext cx="1949115" cy="569512"/>
          </a:xfrm>
          <a:prstGeom prst="rect">
            <a:avLst/>
          </a:prstGeom>
        </p:spPr>
        <p:txBody>
          <a:bodyPr spcFirstLastPara="1" wrap="square" lIns="91425" tIns="91425" rIns="91425" bIns="91425" anchor="t" anchorCtr="0">
            <a:noAutofit/>
          </a:bodyPr>
          <a:lstStyle/>
          <a:p>
            <a:r>
              <a:rPr lang="en-US" sz="2400" b="1" u="sng" dirty="0"/>
              <a:t>Future Work</a:t>
            </a:r>
            <a:br>
              <a:rPr lang="en-US" sz="2400" b="1" u="sng" dirty="0"/>
            </a:br>
            <a:endParaRPr sz="2400" b="1" u="sng" dirty="0"/>
          </a:p>
        </p:txBody>
      </p:sp>
      <p:sp>
        <p:nvSpPr>
          <p:cNvPr id="2" name="Subtitle 1"/>
          <p:cNvSpPr>
            <a:spLocks noGrp="1" noChangeArrowheads="1"/>
          </p:cNvSpPr>
          <p:nvPr>
            <p:ph type="subTitle" idx="1"/>
          </p:nvPr>
        </p:nvSpPr>
        <p:spPr bwMode="auto">
          <a:xfrm>
            <a:off x="1773383" y="1521909"/>
            <a:ext cx="607105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171450" indent="-171450" algn="l">
              <a:buFont typeface="Arial" panose="020B0604020202020204" pitchFamily="34" charset="0"/>
              <a:buChar char="•"/>
            </a:pPr>
            <a:r>
              <a:rPr lang="en-US" sz="1200" dirty="0">
                <a:solidFill>
                  <a:schemeClr val="bg2">
                    <a:lumMod val="75000"/>
                  </a:schemeClr>
                </a:solidFill>
              </a:rPr>
              <a:t>Performance benchmarking modules for relevance accuracy, retrieval latency, scalability, and memory efficiency</a:t>
            </a:r>
            <a:endParaRPr lang="en-US" sz="1200" dirty="0">
              <a:solidFill>
                <a:schemeClr val="bg2">
                  <a:lumMod val="75000"/>
                </a:schemeClr>
              </a:solidFill>
            </a:endParaRPr>
          </a:p>
          <a:p>
            <a:pPr marL="171450" indent="-171450" algn="l">
              <a:buFont typeface="Arial" panose="020B0604020202020204" pitchFamily="34" charset="0"/>
              <a:buChar char="•"/>
            </a:pPr>
            <a:r>
              <a:rPr lang="en-US" sz="1200" dirty="0">
                <a:solidFill>
                  <a:schemeClr val="bg2">
                    <a:lumMod val="75000"/>
                  </a:schemeClr>
                </a:solidFill>
              </a:rPr>
              <a:t>Advanced security features: fine-grained access control, audit logs, API rate limiting, and credential protection</a:t>
            </a:r>
            <a:endParaRPr lang="en-US" sz="1200" dirty="0">
              <a:solidFill>
                <a:schemeClr val="bg2">
                  <a:lumMod val="75000"/>
                </a:schemeClr>
              </a:solidFill>
            </a:endParaRPr>
          </a:p>
          <a:p>
            <a:pPr marL="171450" indent="-171450" algn="l">
              <a:buFont typeface="Arial" panose="020B0604020202020204" pitchFamily="34" charset="0"/>
              <a:buChar char="•"/>
            </a:pPr>
            <a:r>
              <a:rPr lang="en-US" sz="1200" dirty="0">
                <a:solidFill>
                  <a:schemeClr val="bg2">
                    <a:lumMod val="75000"/>
                  </a:schemeClr>
                </a:solidFill>
              </a:rPr>
              <a:t>Containerized deployment using Docker for cloud and on-premise environments</a:t>
            </a:r>
            <a:endParaRPr lang="en-US" sz="1200" dirty="0">
              <a:solidFill>
                <a:schemeClr val="bg2">
                  <a:lumMod val="75000"/>
                </a:schemeClr>
              </a:solidFill>
            </a:endParaRPr>
          </a:p>
          <a:p>
            <a:pPr marL="171450" indent="-171450" algn="l">
              <a:buFont typeface="Arial" panose="020B0604020202020204" pitchFamily="34" charset="0"/>
              <a:buChar char="•"/>
            </a:pPr>
            <a:r>
              <a:rPr lang="en-US" sz="1200" dirty="0">
                <a:solidFill>
                  <a:schemeClr val="bg2">
                    <a:lumMod val="75000"/>
                  </a:schemeClr>
                </a:solidFill>
              </a:rPr>
              <a:t>Collaboration &amp; analytics: usage dashboards, popular queries, and cross-document insights</a:t>
            </a:r>
            <a:endParaRPr lang="en-US" sz="1200" dirty="0">
              <a:solidFill>
                <a:schemeClr val="bg2">
                  <a:lumMod val="75000"/>
                </a:schemeClr>
              </a:solidFill>
            </a:endParaRPr>
          </a:p>
          <a:p>
            <a:pPr marL="171450" indent="-171450" algn="l">
              <a:buFont typeface="Arial" panose="020B0604020202020204" pitchFamily="34" charset="0"/>
              <a:buChar char="•"/>
            </a:pPr>
            <a:r>
              <a:rPr lang="en-US" sz="1200" dirty="0">
                <a:solidFill>
                  <a:schemeClr val="bg2">
                    <a:lumMod val="75000"/>
                  </a:schemeClr>
                </a:solidFill>
              </a:rPr>
              <a:t>Future enhancement: support for handwritten and low-quality scans using image enhancement and handwriting-aware OCR</a:t>
            </a:r>
            <a:endParaRPr lang="en-US" sz="1200" dirty="0">
              <a:solidFill>
                <a:schemeClr val="bg2">
                  <a:lumMod val="7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29" name="Google Shape;2329;p44"/>
          <p:cNvSpPr txBox="1">
            <a:spLocks noGrp="1"/>
          </p:cNvSpPr>
          <p:nvPr>
            <p:ph type="title"/>
          </p:nvPr>
        </p:nvSpPr>
        <p:spPr>
          <a:xfrm>
            <a:off x="3542952" y="923925"/>
            <a:ext cx="2055018" cy="514898"/>
          </a:xfrm>
          <a:prstGeom prst="rect">
            <a:avLst/>
          </a:prstGeom>
        </p:spPr>
        <p:txBody>
          <a:bodyPr spcFirstLastPara="1" wrap="square" lIns="91425" tIns="91425" rIns="91425" bIns="91425" anchor="b" anchorCtr="0">
            <a:noAutofit/>
          </a:bodyPr>
          <a:lstStyle/>
          <a:p>
            <a:pPr lvl="0"/>
            <a:r>
              <a:rPr lang="en-GB" sz="2400" b="1" u="sng" dirty="0">
                <a:latin typeface="Fjalla One" panose="02000506040000020004" pitchFamily="2" charset="0"/>
                <a:sym typeface="Barlow Semi Condensed Medium" panose="00000606000000000000"/>
              </a:rPr>
              <a:t>—</a:t>
            </a:r>
            <a:r>
              <a:rPr lang="en-US" sz="2400" b="1" u="sng" dirty="0">
                <a:latin typeface="Fjalla One" panose="02000506040000020004" pitchFamily="2" charset="0"/>
              </a:rPr>
              <a:t>Conclusion</a:t>
            </a:r>
            <a:r>
              <a:rPr lang="en-GB" sz="2400" b="1" u="sng" dirty="0">
                <a:latin typeface="Fjalla One" panose="02000506040000020004" pitchFamily="2" charset="0"/>
              </a:rPr>
              <a:t> —</a:t>
            </a:r>
            <a:endParaRPr sz="2400" b="1" u="sng" dirty="0">
              <a:latin typeface="Fjalla One" panose="02000506040000020004" pitchFamily="2" charset="0"/>
              <a:sym typeface="Barlow Semi Condensed Medium" panose="00000606000000000000"/>
            </a:endParaRPr>
          </a:p>
        </p:txBody>
      </p:sp>
      <p:sp>
        <p:nvSpPr>
          <p:cNvPr id="2330" name="Google Shape;2330;p44"/>
          <p:cNvSpPr txBox="1">
            <a:spLocks noGrp="1"/>
          </p:cNvSpPr>
          <p:nvPr>
            <p:ph type="subTitle" idx="1"/>
          </p:nvPr>
        </p:nvSpPr>
        <p:spPr>
          <a:xfrm>
            <a:off x="1676400" y="1530509"/>
            <a:ext cx="6305550" cy="2872421"/>
          </a:xfrm>
          <a:prstGeom prst="rect">
            <a:avLst/>
          </a:prstGeom>
        </p:spPr>
        <p:txBody>
          <a:bodyPr spcFirstLastPara="1" wrap="square" lIns="91425" tIns="91425" rIns="91425" bIns="91425" anchor="t" anchorCtr="0">
            <a:noAutofit/>
          </a:bodyPr>
          <a:lstStyle/>
          <a:p>
            <a:pPr algn="just">
              <a:lnSpc>
                <a:spcPct val="150000"/>
              </a:lnSpc>
            </a:pPr>
            <a:r>
              <a:rPr lang="en-US" sz="1200" dirty="0"/>
              <a:t>This project shows that enterprise PDFs can be converted into a structured, semantically searchable knowledge base using a RAG pipeline. The system successfully handles text extraction, chunking, embeddings, vector storage, and LLM-based responses, enabling semantic search instead of simple keyword matching. Tests through Postman and a Streamlit prototype confirm accurate retrieval and grounded answers. Although the current version supports only text-based retrieval, the results demonstrate strong potential for improving document accessibility. With future additions like multimodal extraction, multilingual support, and a complete UI, the system can evolve into a fully enterprise-ready knowledge management solution.</a:t>
            </a:r>
            <a:endParaRPr lang="en-IN" sz="7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Google Shape;2177;p39"/>
          <p:cNvSpPr txBox="1">
            <a:spLocks noGrp="1"/>
          </p:cNvSpPr>
          <p:nvPr>
            <p:ph type="title"/>
          </p:nvPr>
        </p:nvSpPr>
        <p:spPr>
          <a:xfrm>
            <a:off x="3567105" y="543643"/>
            <a:ext cx="1666875" cy="561257"/>
          </a:xfrm>
          <a:prstGeom prst="rect">
            <a:avLst/>
          </a:prstGeom>
        </p:spPr>
        <p:txBody>
          <a:bodyPr spcFirstLastPara="1" wrap="square" lIns="91425" tIns="91425" rIns="91425" bIns="91425" anchor="t" anchorCtr="0">
            <a:noAutofit/>
          </a:bodyPr>
          <a:lstStyle/>
          <a:p>
            <a:r>
              <a:rPr lang="en-US" sz="2400" b="1" u="sng" dirty="0">
                <a:solidFill>
                  <a:schemeClr val="accent2">
                    <a:lumMod val="75000"/>
                  </a:schemeClr>
                </a:solidFill>
                <a:latin typeface="Fjalla One" panose="02000506040000020004" pitchFamily="2" charset="0"/>
              </a:rPr>
              <a:t>REFERENCES</a:t>
            </a:r>
            <a:br>
              <a:rPr lang="en-US" sz="2400" dirty="0">
                <a:solidFill>
                  <a:schemeClr val="accent2">
                    <a:lumMod val="75000"/>
                  </a:schemeClr>
                </a:solidFill>
              </a:rPr>
            </a:br>
            <a:endParaRPr sz="2400" dirty="0">
              <a:solidFill>
                <a:schemeClr val="accent2">
                  <a:lumMod val="75000"/>
                </a:schemeClr>
              </a:solidFill>
            </a:endParaRPr>
          </a:p>
        </p:txBody>
      </p:sp>
      <p:sp>
        <p:nvSpPr>
          <p:cNvPr id="4" name="Rectangle 3"/>
          <p:cNvSpPr/>
          <p:nvPr/>
        </p:nvSpPr>
        <p:spPr>
          <a:xfrm>
            <a:off x="1626053" y="1104900"/>
            <a:ext cx="6400800" cy="332295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IN" sz="1200" dirty="0"/>
              <a:t>[1] </a:t>
            </a:r>
            <a:r>
              <a:rPr lang="en-IN" sz="1200" dirty="0" err="1"/>
              <a:t>LangChain</a:t>
            </a:r>
            <a:r>
              <a:rPr lang="en-IN" sz="1200" dirty="0"/>
              <a:t> Documentation. Accessed: Jan. 2025. [Online]. Available: https://python.langchain.com</a:t>
            </a:r>
            <a:endParaRPr lang="en-US" sz="1200" dirty="0"/>
          </a:p>
          <a:p>
            <a:r>
              <a:rPr lang="en-IN" sz="1200" dirty="0"/>
              <a:t>[2] Pinecone Documentation. Accessed: Jan. 2025. [Online]. Available: https://www.pinecone.io</a:t>
            </a:r>
            <a:endParaRPr lang="en-US" sz="1200" dirty="0"/>
          </a:p>
          <a:p>
            <a:r>
              <a:rPr lang="en-IN" sz="1200" dirty="0"/>
              <a:t>[3] </a:t>
            </a:r>
            <a:r>
              <a:rPr lang="en-IN" sz="1200" dirty="0" err="1"/>
              <a:t>FastAPI</a:t>
            </a:r>
            <a:r>
              <a:rPr lang="en-IN" sz="1200" dirty="0"/>
              <a:t> Documentation. Accessed: Jan. 2025. [Online]. Available: https://fastapi.tiangolo.com</a:t>
            </a:r>
            <a:endParaRPr lang="en-US" sz="1200" dirty="0"/>
          </a:p>
          <a:p>
            <a:r>
              <a:rPr lang="en-IN" sz="1200" dirty="0"/>
              <a:t>[4] </a:t>
            </a:r>
            <a:r>
              <a:rPr lang="en-IN" sz="1200" dirty="0" err="1"/>
              <a:t>Streamlit</a:t>
            </a:r>
            <a:r>
              <a:rPr lang="en-IN" sz="1200" dirty="0"/>
              <a:t> Documentation. Accessed: Jan. 2025. [Online]. Available: https://streamlit.io</a:t>
            </a:r>
            <a:endParaRPr lang="en-US" sz="1200" dirty="0"/>
          </a:p>
          <a:p>
            <a:r>
              <a:rPr lang="en-IN" sz="1200" dirty="0"/>
              <a:t>[5] Google Generative AI (Gemini) API Documentation. Accessed: Jan. 2025. [Online]. Available: https://ai.google.dev</a:t>
            </a:r>
            <a:endParaRPr lang="en-US" sz="1200" dirty="0"/>
          </a:p>
          <a:p>
            <a:r>
              <a:rPr lang="en-IN" sz="1200" dirty="0"/>
              <a:t>[6] </a:t>
            </a:r>
            <a:r>
              <a:rPr lang="en-IN" sz="1200" dirty="0" err="1"/>
              <a:t>Groq</a:t>
            </a:r>
            <a:r>
              <a:rPr lang="en-IN" sz="1200" dirty="0"/>
              <a:t> API Documentation. Accessed: Jan. 2025. [Online]. Available: https://console.groq.com/docs</a:t>
            </a:r>
            <a:endParaRPr lang="en-US" sz="1200" dirty="0"/>
          </a:p>
          <a:p>
            <a:r>
              <a:rPr lang="en-IN" sz="1200" dirty="0"/>
              <a:t>[7] </a:t>
            </a:r>
            <a:r>
              <a:rPr lang="en-IN" sz="1200" dirty="0" err="1"/>
              <a:t>PyMuPDF</a:t>
            </a:r>
            <a:r>
              <a:rPr lang="en-IN" sz="1200" dirty="0"/>
              <a:t> Documentation. Accessed: Jan. 2025. [Online]. Available: https://pymupdf.readthedocs.io</a:t>
            </a:r>
            <a:endParaRPr lang="en-US" sz="1200" dirty="0"/>
          </a:p>
          <a:p>
            <a:r>
              <a:rPr lang="en-IN" sz="1200" dirty="0"/>
              <a:t>[8] Tesseract OCR Documentation. Accessed: Jan. 2025. [Online]. Available: https://github.com/tesseract-ocr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45"/>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p>
            <a:pPr lvl="0"/>
            <a:r>
              <a:rPr lang="en-GB" sz="8000" dirty="0"/>
              <a:t>Thanks!</a:t>
            </a:r>
            <a:endParaRPr dirty="0"/>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8643</Words>
  <Application>WPS Presentation</Application>
  <PresentationFormat>On-screen Show (16:9)</PresentationFormat>
  <Paragraphs>116</Paragraphs>
  <Slides>17</Slides>
  <Notes>8</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Arial</vt:lpstr>
      <vt:lpstr>SimSun</vt:lpstr>
      <vt:lpstr>Wingdings</vt:lpstr>
      <vt:lpstr>Arial</vt:lpstr>
      <vt:lpstr>Fjalla One</vt:lpstr>
      <vt:lpstr>Barlow Semi Condensed Medium</vt:lpstr>
      <vt:lpstr>Barlow Semi Condensed</vt:lpstr>
      <vt:lpstr>Roboto Condensed Light</vt:lpstr>
      <vt:lpstr>Fjalla One</vt:lpstr>
      <vt:lpstr>Barlow Semi Condensed</vt:lpstr>
      <vt:lpstr>Times New Roman</vt:lpstr>
      <vt:lpstr>Microsoft YaHei</vt:lpstr>
      <vt:lpstr>Arial Unicode MS</vt:lpstr>
      <vt:lpstr>Technology Consulting by Slidesgo</vt:lpstr>
      <vt:lpstr>CONVERT ENTERPRISE PDFS INTO SEARCHABLE KNOWLEDGE </vt:lpstr>
      <vt:lpstr>Introduction</vt:lpstr>
      <vt:lpstr>Abstract  </vt:lpstr>
      <vt:lpstr>PowerPoint 演示文稿</vt:lpstr>
      <vt:lpstr>PowerPoint 演示文稿</vt:lpstr>
      <vt:lpstr>RAG</vt:lpstr>
      <vt:lpstr>Workflow Diagram </vt:lpstr>
      <vt:lpstr>Methodology</vt:lpstr>
      <vt:lpstr>Results </vt:lpstr>
      <vt:lpstr>Results </vt:lpstr>
      <vt:lpstr>Results </vt:lpstr>
      <vt:lpstr>Results </vt:lpstr>
      <vt:lpstr>Results </vt:lpstr>
      <vt:lpstr>Future Work </vt:lpstr>
      <vt:lpstr>—Conclusion —</vt:lpstr>
      <vt:lpstr>REFERENCES </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and Compliance  in Cloud Computing</dc:title>
  <dc:creator>ISMAIL</dc:creator>
  <cp:lastModifiedBy>Siddhartha Nag</cp:lastModifiedBy>
  <cp:revision>40</cp:revision>
  <dcterms:created xsi:type="dcterms:W3CDTF">2026-01-04T14:30:21Z</dcterms:created>
  <dcterms:modified xsi:type="dcterms:W3CDTF">2026-01-04T14:35:55Z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79A3D83E50BE444E9A33C9DDAF5E3254_12</vt:lpwstr>
  </property>
  <property fmtid="{D5CDD505-2E9C-101B-9397-08002B2CF9AE}" pid="3" name="KSOProductBuildVer">
    <vt:lpwstr>1033-12.2.0.23196</vt:lpwstr>
  </property>
</Properties>
</file>